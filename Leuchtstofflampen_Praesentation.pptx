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9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6291072"/>
            <a:ext cx="3931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100" b="0">
                <a:solidFill>
                  <a:srgbClr val="CEDCE8"/>
                </a:solidFill>
                <a:latin typeface="Aptos"/>
              </a:defRPr>
            </a:pPr>
            <a:r>
              <a:t>Name · Klasse · Datum ergänzen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500" b="1">
                <a:solidFill>
                  <a:srgbClr val="142C48"/>
                </a:solidFill>
                <a:latin typeface="Aptos Display"/>
              </a:defRPr>
            </a:pPr>
            <a:r>
              <a:t>Warum ist die Leuchtstofflampe im Berufsalltag wichtig?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63707C"/>
                </a:solidFill>
                <a:latin typeface="Aptos"/>
              </a:defRPr>
            </a:pPr>
            <a:r>
              <a:t>Einordnung für Elektrotechnik, Beleuchtungstechnik und Gebäudepraxis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4747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3154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800" b="1">
                <a:solidFill>
                  <a:srgbClr val="142C48"/>
                </a:solidFill>
                <a:latin typeface="Aptos"/>
              </a:defRPr>
            </a:pPr>
            <a:r>
              <a:t>Technischer Kern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84832"/>
            <a:ext cx="3154680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300" b="0">
                <a:solidFill>
                  <a:srgbClr val="485461"/>
                </a:solidFill>
                <a:latin typeface="Aptos"/>
              </a:defRPr>
            </a:pPr>
            <a:r>
              <a:t>Sie gehört zu den Gasentladungslampen. Das sichtbare Licht entsteht erst über die Leuchtstoffschicht im Inneren.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1554480"/>
            <a:ext cx="34747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2856" y="1719072"/>
            <a:ext cx="3154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800" b="1">
                <a:solidFill>
                  <a:srgbClr val="142C48"/>
                </a:solidFill>
                <a:latin typeface="Aptos"/>
              </a:defRPr>
            </a:pPr>
            <a:r>
              <a:t>Praxisbezug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2856" y="2084832"/>
            <a:ext cx="3154680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300" b="0">
                <a:solidFill>
                  <a:srgbClr val="485461"/>
                </a:solidFill>
                <a:latin typeface="Aptos"/>
              </a:defRPr>
            </a:pPr>
            <a:r>
              <a:t>In Schulen, Büros und Werkhallen war diese Lampenart lange Standard, weil sie große Räume wirtschaftlich ausleuchtet.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1554480"/>
            <a:ext cx="34747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1719072"/>
            <a:ext cx="3154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800" b="1">
                <a:solidFill>
                  <a:srgbClr val="142C48"/>
                </a:solidFill>
                <a:latin typeface="Aptos"/>
              </a:defRPr>
            </a:pPr>
            <a:r>
              <a:t>Heute relevant, weil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2084832"/>
            <a:ext cx="3154680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300" b="0">
                <a:solidFill>
                  <a:srgbClr val="485461"/>
                </a:solidFill>
                <a:latin typeface="Aptos"/>
              </a:defRPr>
            </a:pPr>
            <a:r>
              <a:t>… Bestandsanlagen weiterhin existieren und der Vergleich mit moderner LED-Technik in der Berufsschule wichtig 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86200"/>
            <a:ext cx="52120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700" b="0">
                <a:solidFill>
                  <a:srgbClr val="364351"/>
                </a:solidFill>
                <a:latin typeface="Aptos"/>
              </a:defRPr>
            </a:pPr>
            <a:r>
              <a:t>Diese Präsentation behandelt genau die Punkte aus dem Arbeitsauftrag:</a:t>
            </a:r>
          </a:p>
          <a:p>
            <a:pPr>
              <a:lnSpc>
                <a:spcPct val="120000"/>
              </a:lnSpc>
              <a:defRPr sz="1700" b="0">
                <a:solidFill>
                  <a:srgbClr val="364351"/>
                </a:solidFill>
                <a:latin typeface="Aptos"/>
              </a:defRPr>
            </a:pPr>
          </a:p>
          <a:p>
            <a:pPr>
              <a:lnSpc>
                <a:spcPct val="120000"/>
              </a:lnSpc>
              <a:defRPr sz="1700" b="0">
                <a:solidFill>
                  <a:srgbClr val="364351"/>
                </a:solidFill>
                <a:latin typeface="Aptos"/>
              </a:defRPr>
            </a:pPr>
            <a:r>
              <a:t>Aufbau, Funktionsweise, Betriebsverhalten, Bauformen, Lichtfarben, Besonderheiten und typische Einsatzbereiche.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822191"/>
            <a:ext cx="4846320" cy="1783080"/>
          </a:xfrm>
          <a:prstGeom prst="roundRect">
            <a:avLst/>
          </a:prstGeom>
          <a:solidFill>
            <a:srgbClr val="185C97"/>
          </a:solidFill>
          <a:ln>
            <a:solidFill>
              <a:srgbClr val="185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4114800"/>
            <a:ext cx="42976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800" b="0">
                <a:solidFill>
                  <a:srgbClr val="FFFFFF"/>
                </a:solidFill>
                <a:latin typeface="Aptos"/>
              </a:defRPr>
            </a:pPr>
            <a:r>
              <a:t>Merksatz:</a:t>
            </a:r>
          </a:p>
          <a:p>
            <a:pPr>
              <a:lnSpc>
                <a:spcPct val="120000"/>
              </a:lnSpc>
              <a:defRPr sz="1800" b="0">
                <a:solidFill>
                  <a:srgbClr val="FFFFFF"/>
                </a:solidFill>
                <a:latin typeface="Aptos"/>
              </a:defRPr>
            </a:pPr>
            <a:r>
              <a:t>Leuchtstofflampen sind effizienter als Glühlampen, aber in vielen Bereichen bereits von LEDs verdrängt.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500" b="1">
                <a:solidFill>
                  <a:srgbClr val="142C48"/>
                </a:solidFill>
                <a:latin typeface="Aptos Display"/>
              </a:defRPr>
            </a:pPr>
            <a:r>
              <a:t>Aufbau einer Leuchtstofflampe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63707C"/>
                </a:solidFill>
                <a:latin typeface="Aptos"/>
              </a:defRPr>
            </a:pPr>
            <a:r>
              <a:t>Die wichtigsten Bauteile in einer übersichtlichen technischen Darstellung</a:t>
            </a:r>
          </a:p>
        </p:txBody>
      </p:sp>
      <p:pic>
        <p:nvPicPr>
          <p:cNvPr id="4" name="Picture 3" descr="tech_cut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98448"/>
            <a:ext cx="74066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60020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1500">
                <a:solidFill>
                  <a:srgbClr val="3C4854"/>
                </a:solidFill>
                <a:latin typeface="Aptos"/>
              </a:defRPr>
            </a:pPr>
            <a:r>
              <a:t>• Glasrohr schützt die Komponenten und führt die Entladung.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500">
                <a:solidFill>
                  <a:srgbClr val="3C4854"/>
                </a:solidFill>
                <a:latin typeface="Aptos"/>
              </a:defRPr>
            </a:pPr>
            <a:r>
              <a:t>• Elektroden an den Enden zünden die Lampe beim Start.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500">
                <a:solidFill>
                  <a:srgbClr val="3C4854"/>
                </a:solidFill>
                <a:latin typeface="Aptos"/>
              </a:defRPr>
            </a:pPr>
            <a:r>
              <a:t>• Edelgas und Quecksilberdampf erzeugen UV-Strahlung.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500">
                <a:solidFill>
                  <a:srgbClr val="3C4854"/>
                </a:solidFill>
                <a:latin typeface="Aptos"/>
              </a:defRPr>
            </a:pPr>
            <a:r>
              <a:t>• Die Leuchtstoffschicht wandelt UV in sichtbares Licht um.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500">
                <a:solidFill>
                  <a:srgbClr val="3C4854"/>
                </a:solidFill>
                <a:latin typeface="Aptos"/>
              </a:defRPr>
            </a:pPr>
            <a:r>
              <a:t>• Ein Vorschaltgerät begrenzt den Strom im Betrieb.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500" b="1">
                <a:solidFill>
                  <a:srgbClr val="142C48"/>
                </a:solidFill>
                <a:latin typeface="Aptos Display"/>
              </a:defRPr>
            </a:pPr>
            <a:r>
              <a:t>Funktionsweise Schritt für Schritt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63707C"/>
                </a:solidFill>
                <a:latin typeface="Aptos"/>
              </a:defRPr>
            </a:pPr>
            <a:r>
              <a:t>Vom Einschalten bis zur gleichmäßigen Lichtabgabe</a:t>
            </a:r>
          </a:p>
        </p:txBody>
      </p:sp>
      <p:pic>
        <p:nvPicPr>
          <p:cNvPr id="4" name="Picture 3" descr="funct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53312"/>
            <a:ext cx="1156716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500" b="1">
                <a:solidFill>
                  <a:srgbClr val="142C48"/>
                </a:solidFill>
                <a:latin typeface="Aptos Display"/>
              </a:defRPr>
            </a:pPr>
            <a:r>
              <a:t>Betriebsverhalten und typische Kennwerte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63707C"/>
                </a:solidFill>
                <a:latin typeface="Aptos"/>
              </a:defRPr>
            </a:pPr>
            <a:r>
              <a:t>Worauf man im praktischen Einsatz achten muss</a:t>
            </a:r>
          </a:p>
        </p:txBody>
      </p:sp>
      <p:pic>
        <p:nvPicPr>
          <p:cNvPr id="4" name="Picture 3" descr="behavior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34440"/>
            <a:ext cx="1175004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500" b="1">
                <a:solidFill>
                  <a:srgbClr val="142C48"/>
                </a:solidFill>
                <a:latin typeface="Aptos Display"/>
              </a:defRPr>
            </a:pPr>
            <a:r>
              <a:t>Bauformen, Ausführungen und Farbtemperaturen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63707C"/>
                </a:solidFill>
                <a:latin typeface="Aptos"/>
              </a:defRPr>
            </a:pPr>
            <a:r>
              <a:t>Die Auswahl richtet sich nach Leuchte, Raum und Arbeitsaufgabe</a:t>
            </a:r>
          </a:p>
        </p:txBody>
      </p:sp>
      <p:pic>
        <p:nvPicPr>
          <p:cNvPr id="4" name="Picture 3" descr="forms_col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07592"/>
            <a:ext cx="1156716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Typische Anwendungsbereiche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D6E3ED"/>
                </a:solidFill>
                <a:latin typeface="Aptos"/>
              </a:defRPr>
            </a:pPr>
            <a:r>
              <a:t>Beispiele aus Schule, Büro, Werkstatt und Lagerhalle</a:t>
            </a:r>
          </a:p>
        </p:txBody>
      </p:sp>
      <p:pic>
        <p:nvPicPr>
          <p:cNvPr id="4" name="Picture 3" descr="appl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234440"/>
            <a:ext cx="11795760" cy="5138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500" b="1">
                <a:solidFill>
                  <a:srgbClr val="142C48"/>
                </a:solidFill>
                <a:latin typeface="Aptos Display"/>
              </a:defRPr>
            </a:pPr>
            <a:r>
              <a:t>Vorteile und Grenzen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63707C"/>
                </a:solidFill>
                <a:latin typeface="Aptos"/>
              </a:defRPr>
            </a:pPr>
            <a:r>
              <a:t>Die Technik ist nachvollziehbar stark – hat aber klare Nachteile gegenüber 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72768"/>
            <a:ext cx="50749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43AB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63640" y="1572768"/>
            <a:ext cx="507492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6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300" b="1">
                <a:solidFill>
                  <a:srgbClr val="43AB74"/>
                </a:solidFill>
                <a:latin typeface="Aptos"/>
              </a:defRPr>
            </a:pPr>
            <a:r>
              <a:t>Vorteile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240280"/>
            <a:ext cx="438912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1600">
                <a:solidFill>
                  <a:srgbClr val="3C4854"/>
                </a:solidFill>
                <a:latin typeface="Aptos"/>
              </a:defRPr>
            </a:pPr>
            <a:r>
              <a:t>• gute Lichtausbeute gegenüber klassischen Glühlampen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600">
                <a:solidFill>
                  <a:srgbClr val="3C4854"/>
                </a:solidFill>
                <a:latin typeface="Aptos"/>
              </a:defRPr>
            </a:pPr>
            <a:r>
              <a:t>• gleichmäßige und breite Ausleuchtung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600">
                <a:solidFill>
                  <a:srgbClr val="3C4854"/>
                </a:solidFill>
                <a:latin typeface="Aptos"/>
              </a:defRPr>
            </a:pPr>
            <a:r>
              <a:t>• verschiedene Lichtfarben möglich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600">
                <a:solidFill>
                  <a:srgbClr val="3C4854"/>
                </a:solidFill>
                <a:latin typeface="Aptos"/>
              </a:defRPr>
            </a:pPr>
            <a:r>
              <a:t>• für große Räume lange wirtschaftlich sinnvoll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300" b="1">
                <a:solidFill>
                  <a:srgbClr val="D65F5F"/>
                </a:solidFill>
                <a:latin typeface="Aptos"/>
              </a:defRPr>
            </a:pPr>
            <a:r>
              <a:t>Nachteile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240280"/>
            <a:ext cx="438912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1600">
                <a:solidFill>
                  <a:srgbClr val="3C4854"/>
                </a:solidFill>
                <a:latin typeface="Aptos"/>
              </a:defRPr>
            </a:pPr>
            <a:r>
              <a:t>• enthält Quecksilber und ist damit entsorgungspflichtig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600">
                <a:solidFill>
                  <a:srgbClr val="3C4854"/>
                </a:solidFill>
                <a:latin typeface="Aptos"/>
              </a:defRPr>
            </a:pPr>
            <a:r>
              <a:t>• braucht oft kurze Anlaufzeit bis zur vollen Helligkeit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600">
                <a:solidFill>
                  <a:srgbClr val="3C4854"/>
                </a:solidFill>
                <a:latin typeface="Aptos"/>
              </a:defRPr>
            </a:pPr>
            <a:r>
              <a:t>• häufiges Schalten verkürzt die Lebensdauer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600">
                <a:solidFill>
                  <a:srgbClr val="3C4854"/>
                </a:solidFill>
                <a:latin typeface="Aptos"/>
              </a:defRPr>
            </a:pPr>
            <a:r>
              <a:t>• heute in vielen Bereichen technisch von LEDs übertroffen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500" b="1">
                <a:solidFill>
                  <a:srgbClr val="142C48"/>
                </a:solidFill>
                <a:latin typeface="Aptos Display"/>
              </a:defRPr>
            </a:pPr>
            <a:r>
              <a:t>Besonderheiten: Umwelt, Entsorgung und heutige Bedeutung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63707C"/>
                </a:solidFill>
                <a:latin typeface="Aptos"/>
              </a:defRPr>
            </a:pPr>
            <a:r>
              <a:t>Wichtige Hinweise für den sicheren und fachgerechten Umgang</a:t>
            </a:r>
          </a:p>
        </p:txBody>
      </p:sp>
      <p:pic>
        <p:nvPicPr>
          <p:cNvPr id="4" name="Picture 3" descr="enviro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16736"/>
            <a:ext cx="116586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200" b="0">
                <a:solidFill>
                  <a:srgbClr val="D6E3ED"/>
                </a:solidFill>
                <a:latin typeface="Aptos"/>
              </a:defRPr>
            </a:pPr>
            <a:r>
              <a:t>Kurz und verständlich zusammengefasst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defRPr sz="2200" b="0">
                <a:solidFill>
                  <a:srgbClr val="F1F6FA"/>
                </a:solidFill>
                <a:latin typeface="Aptos"/>
              </a:defRPr>
            </a:pPr>
            <a:r>
              <a:t>Leuchtstofflampen waren über viele Jahre die Standardlösung für große Innenräume.</a:t>
            </a:r>
          </a:p>
          <a:p>
            <a:pPr>
              <a:lnSpc>
                <a:spcPct val="120000"/>
              </a:lnSpc>
              <a:defRPr sz="2200" b="0">
                <a:solidFill>
                  <a:srgbClr val="F1F6FA"/>
                </a:solidFill>
                <a:latin typeface="Aptos"/>
              </a:defRPr>
            </a:pPr>
            <a:r>
              <a:t>Technisch sind sie interessant, heute werden sie jedoch meist durch LED-Systeme ersetzt.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32461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57B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310896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900" b="1">
                <a:solidFill>
                  <a:srgbClr val="57D6FF"/>
                </a:solidFill>
                <a:latin typeface="Aptos"/>
              </a:defRPr>
            </a:pPr>
            <a:r>
              <a:t>Aufbau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493008"/>
            <a:ext cx="2880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400" b="0">
                <a:solidFill>
                  <a:srgbClr val="E2ECF4"/>
                </a:solidFill>
                <a:latin typeface="Aptos"/>
              </a:defRPr>
            </a:pPr>
            <a:r>
              <a:t>Gasfüllung, Elektroden, Leuchtstoffschicht und Vorschaltgerät arbeiten zusammen.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880360"/>
            <a:ext cx="32461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57B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36592" y="310896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900" b="1">
                <a:solidFill>
                  <a:srgbClr val="57D6FF"/>
                </a:solidFill>
                <a:latin typeface="Aptos"/>
              </a:defRPr>
            </a:pPr>
            <a:r>
              <a:t>Praxis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6592" y="3493008"/>
            <a:ext cx="2880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400" b="0">
                <a:solidFill>
                  <a:srgbClr val="E2ECF4"/>
                </a:solidFill>
                <a:latin typeface="Aptos"/>
              </a:defRPr>
            </a:pPr>
            <a:r>
              <a:t>Besonders geeignet bei längeren Brennzeiten und gleichmäßiger Raumausleuchtung.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2880360"/>
            <a:ext cx="32461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57B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310896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900" b="1">
                <a:solidFill>
                  <a:srgbClr val="57D6FF"/>
                </a:solidFill>
                <a:latin typeface="Aptos"/>
              </a:defRPr>
            </a:pPr>
            <a:r>
              <a:t>Bewertung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3493008"/>
            <a:ext cx="2880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defRPr sz="1400" b="0">
                <a:solidFill>
                  <a:srgbClr val="E2ECF4"/>
                </a:solidFill>
                <a:latin typeface="Aptos"/>
              </a:defRPr>
            </a:pPr>
            <a:r>
              <a:t>Wegen Quecksilber, Schaltverhalten und LED-Fortschritt sinkt ihre Bedeutung.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56692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defRPr sz="1700" b="1">
                <a:solidFill>
                  <a:srgbClr val="B8D0E2"/>
                </a:solidFill>
                <a:latin typeface="Aptos"/>
              </a:defRPr>
            </a:pPr>
            <a:r>
              <a:t>Danke für eure Aufmerksamkeit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