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DCEB"/>
                </a:solidFill>
              </a:defRPr>
            </a:pPr>
            <a:r>
              <a:t>Name · Klasse · Datum ergänzen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42C48"/>
                </a:solidFill>
                <a:latin typeface="Aptos Display"/>
              </a:rPr>
              <a:t>Was macht Leuchtstofflampen besonders?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F7E"/>
                </a:solidFill>
              </a:rPr>
              <a:t>Die Technologie prägte jahrzehntelang Beleuchtung in Arbeits- und Lernräumen.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743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42C48"/>
                </a:solidFill>
              </a:defRPr>
            </a:pPr>
            <a:r>
              <a:t>Prinzip</a:t>
            </a:r>
          </a:p>
          <a:p>
            <a:pPr>
              <a:spcBef>
                <a:spcPts val="1200"/>
              </a:spcBef>
              <a:defRPr sz="1500">
                <a:solidFill>
                  <a:srgbClr val="4C5967"/>
                </a:solidFill>
              </a:defRPr>
            </a:pPr>
            <a:r>
              <a:t>Gasentladung erzeugt UV-Strahlung; die Leuchtstoffschicht wandelt diese in sichtbares Licht 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64592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59" y="1874519"/>
            <a:ext cx="2743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42C48"/>
                </a:solidFill>
              </a:defRPr>
            </a:pPr>
            <a:r>
              <a:t>Stärken</a:t>
            </a:r>
          </a:p>
          <a:p>
            <a:pPr>
              <a:spcBef>
                <a:spcPts val="1200"/>
              </a:spcBef>
              <a:defRPr sz="1500">
                <a:solidFill>
                  <a:srgbClr val="4C5967"/>
                </a:solidFill>
              </a:defRPr>
            </a:pPr>
            <a:r>
              <a:t>Gute Lichtausbeute, gleichmäßige Ausleuchtung und viele Lichtfarben.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874519"/>
            <a:ext cx="2743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42C48"/>
                </a:solidFill>
              </a:defRPr>
            </a:pPr>
            <a:r>
              <a:t>Grenzen</a:t>
            </a:r>
          </a:p>
          <a:p>
            <a:pPr>
              <a:spcBef>
                <a:spcPts val="1200"/>
              </a:spcBef>
              <a:defRPr sz="1500">
                <a:solidFill>
                  <a:srgbClr val="4C5967"/>
                </a:solidFill>
              </a:defRPr>
            </a:pPr>
            <a:r>
              <a:t>Quecksilber, Anlaufzeit und Schaltfestigkeit sind die größten Nachteile.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42C48"/>
                </a:solidFill>
                <a:latin typeface="Aptos Display"/>
              </a:rPr>
              <a:t>Aufbau einer Leuchtstofflampe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F7E"/>
                </a:solidFill>
              </a:rPr>
              <a:t>Wichtige Bauteile und ihre Aufgabe im Stromkreis</a:t>
            </a:r>
          </a:p>
        </p:txBody>
      </p:sp>
      <p:pic>
        <p:nvPicPr>
          <p:cNvPr id="4" name="Picture 3" descr="aufb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315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508760"/>
            <a:ext cx="34747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Glasrohr schützt die Bauteile und führt die Entladung.</a:t>
            </a:r>
          </a:p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Elektroden zünden die Entladung beim Einschalten.</a:t>
            </a:r>
          </a:p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Quecksilberdampf und Edelgas erzeugen UV-Strahlung.</a:t>
            </a:r>
          </a:p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Leuchtstoffschicht wandelt UV in sichtbares Licht um.</a:t>
            </a:r>
          </a:p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Vorschaltgerät begrenzt den Strom und stabilisiert den Betrieb.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42C48"/>
                </a:solidFill>
                <a:latin typeface="Aptos Display"/>
              </a:rPr>
              <a:t>Funktionsweise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F7E"/>
                </a:solidFill>
              </a:rPr>
              <a:t>Vom Einschalten bis zum sichtbaren Licht</a:t>
            </a:r>
          </a:p>
        </p:txBody>
      </p:sp>
      <p:pic>
        <p:nvPicPr>
          <p:cNvPr id="4" name="Picture 3" descr="funk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3385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42C48"/>
                </a:solidFill>
                <a:latin typeface="Aptos Display"/>
              </a:rPr>
              <a:t>Betriebsverhalten und Kennwerte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F7E"/>
                </a:solidFill>
              </a:rPr>
              <a:t>Leuchtstofflampen sind effizienter als Glühlampen, aber empfindlicher als LEDs.</a:t>
            </a:r>
          </a:p>
        </p:txBody>
      </p:sp>
      <p:pic>
        <p:nvPicPr>
          <p:cNvPr id="4" name="Picture 3" descr="vergle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9224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6600" y="1600200"/>
            <a:ext cx="4572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kurze Anlaufzeit bis zur vollen Helligkeit</a:t>
            </a:r>
          </a:p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häufiges Schalten verkürzt die Lebensdauer</a:t>
            </a:r>
          </a:p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Temperatur beeinflusst Lichtstrom und Startverhalten</a:t>
            </a:r>
          </a:p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ältere Anlagen können flackern oder summen</a:t>
            </a:r>
          </a:p>
          <a:p>
            <a:pPr>
              <a:spcAft>
                <a:spcPts val="700"/>
              </a:spcAft>
              <a:defRPr sz="1500">
                <a:solidFill>
                  <a:srgbClr val="3A4653"/>
                </a:solidFill>
              </a:defRPr>
            </a:pPr>
            <a:r>
              <a:t>elektronische Vorschaltgeräte verbessern Komfort und Effizienz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42C48"/>
                </a:solidFill>
                <a:latin typeface="Aptos Display"/>
              </a:rPr>
              <a:t>Bauformen und Farbtemperaturen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F7E"/>
                </a:solidFill>
              </a:rPr>
              <a:t>Typische Röhrenformen und Lichtfarben im Überblick</a:t>
            </a:r>
          </a:p>
        </p:txBody>
      </p:sp>
      <p:pic>
        <p:nvPicPr>
          <p:cNvPr id="4" name="Picture 3" descr="farb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06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4606C"/>
                </a:solidFill>
              </a:defRPr>
            </a:pPr>
            <a:r>
              <a:t>T8 ist der klassische Standard, T5 ist schlanker und meist effizienter. Die passende Lichtfarbe richtet sich nach Arbeitsaufgabe und Raumwirkung.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FFFFFF"/>
                </a:solidFill>
                <a:latin typeface="Aptos Display"/>
              </a:rPr>
              <a:t>Typische Anwendungsbereiche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7E8F5"/>
                </a:solidFill>
              </a:rPr>
              <a:t>Wo Leuchtstofflampen besonders häufig eingesetzt wurden</a:t>
            </a:r>
          </a:p>
        </p:txBody>
      </p:sp>
      <p:pic>
        <p:nvPicPr>
          <p:cNvPr id="4" name="Picture 3" descr="einsa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2928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42C48"/>
                </a:solidFill>
                <a:latin typeface="Aptos Display"/>
              </a:rPr>
              <a:t>Vor- und Nachteile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F7E"/>
                </a:solidFill>
              </a:rPr>
              <a:t>Die wichtigsten Argumente auf einen 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37760" cy="4023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A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3891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AA75"/>
                </a:solidFill>
              </a:defRPr>
            </a:pPr>
            <a:r>
              <a:t>Vorteile</a:t>
            </a:r>
          </a:p>
          <a:p>
            <a:pPr>
              <a:spcAft>
                <a:spcPts val="700"/>
              </a:spcAft>
              <a:defRPr sz="1600">
                <a:solidFill>
                  <a:srgbClr val="3A4653"/>
                </a:solidFill>
              </a:defRPr>
            </a:pPr>
            <a:r>
              <a:t>gute Lichtausbeute</a:t>
            </a:r>
          </a:p>
          <a:p>
            <a:pPr>
              <a:spcAft>
                <a:spcPts val="700"/>
              </a:spcAft>
              <a:defRPr sz="1600">
                <a:solidFill>
                  <a:srgbClr val="3A4653"/>
                </a:solidFill>
              </a:defRPr>
            </a:pPr>
            <a:r>
              <a:t>großflächige, gleichmäßige Ausleuchtung</a:t>
            </a:r>
          </a:p>
          <a:p>
            <a:pPr>
              <a:spcAft>
                <a:spcPts val="700"/>
              </a:spcAft>
              <a:defRPr sz="1600">
                <a:solidFill>
                  <a:srgbClr val="3A4653"/>
                </a:solidFill>
              </a:defRPr>
            </a:pPr>
            <a:r>
              <a:t>verschiedene Lichtfarben verfügbar</a:t>
            </a:r>
          </a:p>
          <a:p>
            <a:pPr>
              <a:spcAft>
                <a:spcPts val="700"/>
              </a:spcAft>
              <a:defRPr sz="1600">
                <a:solidFill>
                  <a:srgbClr val="3A4653"/>
                </a:solidFill>
              </a:defRPr>
            </a:pPr>
            <a:r>
              <a:t>lange Zeit wirtschaftlicher Standard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937760" cy="4023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83080"/>
            <a:ext cx="43891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F5757"/>
                </a:solidFill>
              </a:defRPr>
            </a:pPr>
            <a:r>
              <a:t>Nachteile</a:t>
            </a:r>
          </a:p>
          <a:p>
            <a:pPr>
              <a:spcAft>
                <a:spcPts val="700"/>
              </a:spcAft>
              <a:defRPr sz="1600">
                <a:solidFill>
                  <a:srgbClr val="3A4653"/>
                </a:solidFill>
              </a:defRPr>
            </a:pPr>
            <a:r>
              <a:t>enthält Quecksilber</a:t>
            </a:r>
          </a:p>
          <a:p>
            <a:pPr>
              <a:spcAft>
                <a:spcPts val="700"/>
              </a:spcAft>
              <a:defRPr sz="1600">
                <a:solidFill>
                  <a:srgbClr val="3A4653"/>
                </a:solidFill>
              </a:defRPr>
            </a:pPr>
            <a:r>
              <a:t>Anlaufzeit bis volle Helligkeit</a:t>
            </a:r>
          </a:p>
          <a:p>
            <a:pPr>
              <a:spcAft>
                <a:spcPts val="700"/>
              </a:spcAft>
              <a:defRPr sz="1600">
                <a:solidFill>
                  <a:srgbClr val="3A4653"/>
                </a:solidFill>
              </a:defRPr>
            </a:pPr>
            <a:r>
              <a:t>empfindlich bei häufigem Schalten</a:t>
            </a:r>
          </a:p>
          <a:p>
            <a:pPr>
              <a:spcAft>
                <a:spcPts val="700"/>
              </a:spcAft>
              <a:defRPr sz="1600">
                <a:solidFill>
                  <a:srgbClr val="3A4653"/>
                </a:solidFill>
              </a:defRPr>
            </a:pPr>
            <a:r>
              <a:t>heute oft LED technisch unterlegen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42C48"/>
                </a:solidFill>
                <a:latin typeface="Aptos Display"/>
              </a:rPr>
              <a:t>Besonderheiten: Umwelt und Entsorgung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F7E"/>
                </a:solidFill>
              </a:rPr>
              <a:t>Der Umgang mit Leuchtstofflampen verlangt Sorgfalt.</a:t>
            </a:r>
          </a:p>
        </p:txBody>
      </p:sp>
      <p:pic>
        <p:nvPicPr>
          <p:cNvPr id="4" name="Picture 3" descr="umwe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2928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FFFFFF"/>
                </a:solidFill>
                <a:latin typeface="Aptos Display"/>
              </a:rP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7E8F5"/>
                </a:solidFill>
              </a:rPr>
              <a:t>Technisch bedeutsam, heute aber meist von LEDs ersetzt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Leuchtstofflampen waren ein wichtiger Schritt zu effizienter Beleuchtung – ihre Zukunft gehört jedoch meist der 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EA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4CFFF"/>
                </a:solidFill>
              </a:defRPr>
            </a:pPr>
            <a:r>
              <a:t>Technik</a:t>
            </a:r>
          </a:p>
          <a:p>
            <a:pPr>
              <a:spcBef>
                <a:spcPts val="800"/>
              </a:spcBef>
              <a:defRPr sz="1500">
                <a:solidFill>
                  <a:srgbClr val="E2ECF4"/>
                </a:solidFill>
              </a:defRPr>
            </a:pPr>
            <a:r>
              <a:t>Gasentladung + Leuchtstoffschicht erzeugen sichtbares Licht.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7432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EA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292608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4CFFF"/>
                </a:solidFill>
              </a:defRPr>
            </a:pPr>
            <a:r>
              <a:t>Praxis</a:t>
            </a:r>
          </a:p>
          <a:p>
            <a:pPr>
              <a:spcBef>
                <a:spcPts val="800"/>
              </a:spcBef>
              <a:defRPr sz="1500">
                <a:solidFill>
                  <a:srgbClr val="E2ECF4"/>
                </a:solidFill>
              </a:defRPr>
            </a:pPr>
            <a:r>
              <a:t>Geeignet für große Räume mit gleichmäßiger Ausleuchtung.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7432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EA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292608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4CFFF"/>
                </a:solidFill>
              </a:defRPr>
            </a:pPr>
            <a:r>
              <a:t>Trend</a:t>
            </a:r>
          </a:p>
          <a:p>
            <a:pPr>
              <a:spcBef>
                <a:spcPts val="800"/>
              </a:spcBef>
              <a:defRPr sz="1500">
                <a:solidFill>
                  <a:srgbClr val="E2ECF4"/>
                </a:solidFill>
              </a:defRPr>
            </a:pPr>
            <a:r>
              <a:t>Wegen Quecksilber und Effizienz wird zunehmend auf LED umgestellt.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