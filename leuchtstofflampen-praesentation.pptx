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38912"/>
            <a:ext cx="11109960" cy="63093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1D1B"/>
                </a:solidFill>
                <a:latin typeface="Arial Black"/>
              </a:rPr>
              <a:t>DER ABSCHIED VON DER LEUCHTSTOFFLAMPE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097280"/>
            <a:ext cx="1019556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6862"/>
                </a:solidFill>
                <a:latin typeface="Arial"/>
              </a:rPr>
              <a:t>Was sich ändert – und was beim Wechsel wirklich zählt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Quecksilberhaltige Leuchtstoffröhren" descr="fluorescent_tub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55064"/>
            <a:ext cx="5248656" cy="16824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343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QUECKSILBERHALTIGE LEUCHTSTOFFRÖHREN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627632"/>
            <a:ext cx="530352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7D9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ED-Umrüstung an einer Leuchte" descr="led_install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55064"/>
            <a:ext cx="5248656" cy="16824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63640" y="2907791"/>
            <a:ext cx="5248656" cy="42976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3008375"/>
            <a:ext cx="493775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LED-UMRÜSTUNG AN EINER LEUCHTE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DIE EU-REGEL SAGT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Für T5/T8-Röhren zur Allgemeinbeleuchtung endete eine RoHS-Ausnahme am 24.08.2023. Das ist kein pauschaler Austauschzwang für jede vorhandene Leuchte.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639312"/>
            <a:ext cx="5303520" cy="1856231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822191"/>
            <a:ext cx="4901183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RETROFIT &amp; ENERGIE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343400"/>
            <a:ext cx="4901183" cy="1024127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LED kann weniger Strom brauchen – bei passender Lichtmenge und kompatibler Leuchte. Sockel, Vorschaltgerät und Produktangaben vorher prüfen.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25312"/>
            <a:ext cx="10789920" cy="23774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Faktenstand: September 2026  ·  Beispielsimulationen auf Folie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5925312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01  / 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01 · FUNKTIONSWEISE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WIE MACHT DIE RÖHRE LICHT?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Von der Gasentladung bis zum sichtbaren Licht – vereinfacht dargestellt.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02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GASENTLADUNG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Elektroden und Vorschaltgerät ermöglichen den Betrieb einer Gasentladung in der Röhre.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34255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53712" y="2167128"/>
            <a:ext cx="512064" cy="512064"/>
          </a:xfrm>
          <a:prstGeom prst="ellipse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UV-STRAHLUNG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5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Die Entladung in quecksilberhaltigem Niederdruckdampf erzeugt vor allem ultraviolette Strahlung.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62855" y="4718304"/>
            <a:ext cx="2990088" cy="41148"/>
          </a:xfrm>
          <a:prstGeom prst="rect">
            <a:avLst/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1938528"/>
            <a:ext cx="3447288" cy="312724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2167128"/>
            <a:ext cx="512064" cy="512064"/>
          </a:xfrm>
          <a:prstGeom prst="ellipse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313432"/>
            <a:ext cx="512064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898648"/>
            <a:ext cx="2990088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1D1B"/>
                </a:solidFill>
                <a:latin typeface="Arial Black"/>
              </a:rPr>
              <a:t>SICHTBARES LICHT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3429000"/>
            <a:ext cx="2990088" cy="11430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43A38"/>
                </a:solidFill>
                <a:latin typeface="Arial"/>
              </a:rPr>
              <a:t>Eine Leuchtstoffschicht wandelt die UV-Strahlung in sichtbares Licht um.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4718304"/>
            <a:ext cx="2990088" cy="41148"/>
          </a:xfrm>
          <a:prstGeom prst="rect">
            <a:avLst/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5513832"/>
            <a:ext cx="1078992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46862"/>
                </a:solidFill>
                <a:latin typeface="Arial"/>
              </a:rPr>
              <a:t>Je nach Bauart startet die Lampe mit Starter oder elektronischer Vorschalttechnik.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02 · EU-REGELN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KEIN PAUSCHALES „VERBOT AB 2026“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Der oft verkürzte Begriff „Verbot“ verschleiert, welche Rechtsregel und welche Lampe gemeint 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03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AUSLÄUFT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RoHS beschränkt bestimmte Schadstoffe in Elektrogeräten. Für lineare T5-/T8-Leuchtstofflampen zur Allgemeinbeleuchtung endete die einschlägige Quecksilber-Ausnahme am 24. August 2023.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920240"/>
            <a:ext cx="5239512" cy="188366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103120"/>
            <a:ext cx="4837176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WAS DAS NICHT BEDEUTET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624328"/>
            <a:ext cx="4837176" cy="10515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Kein pauschaler Stichtag 2026, zu dem jede installierte Lampe ausgebaut werden muss. Andere Lampentypen und spezielle Anwendungen können anders geregelt sein.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4142232"/>
            <a:ext cx="10780776" cy="105156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RECHTLICHER UNTERSCHIED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72584"/>
            <a:ext cx="10058400" cy="36576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D1B"/>
                </a:solidFill>
                <a:latin typeface="Arial"/>
              </a:rPr>
              <a:t>„Inverkehrbringen“ neuer Produkte ist nicht dasselbe wie Betrieb einer bereits vorhandenen Leuchte. Bei konkreter Beschaffung stets Lampentyp und aktuelle Rechtslage prüfen.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50992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Delegierte Richtlinie (EU) 2022/284 zur Änderung der RoHS-Richtlinie 2011/65/EU.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03 · UMWELT &amp; ENTSORGUNG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ALTLAMPEN RICHTIG ABGEBEN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Leuchtstoffröhren gehören zur getrennten Sammlung – nicht in den Hausmüll.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04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VORSICHTIG HANDHABEN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Röhren möglichst unbeschädigt transportieren. Bei Bruch örtliche Hinweise zur Reinigung befolgen.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SAMMELSTELLE NUTZEN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Wertstoffhof oder kommunale Sammelstelle. Je nach Händler ist auch eine Rückgabe im Handel möglich.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01952"/>
            <a:ext cx="3429000" cy="1993392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8483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 Black"/>
              </a:rPr>
              <a:t>LED AUCH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606040"/>
            <a:ext cx="3026664" cy="11612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LED-Lampen gehören ebenfalls nicht in den Hausmüll; sie werden getrennt als Elektroaltgeräte erfasst.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4315968"/>
            <a:ext cx="10780776" cy="82296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62856"/>
            <a:ext cx="10131552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Grund: Leuchtstofflampen enthalten Quecksilber; getrennte Erfassung ermöglicht fachgerechte Behandlung und Verwertung.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04688"/>
            <a:ext cx="1069848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Quelle: Umweltbundesamt, „Wohin mit kaputten Lampen?“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04 · UMSTIEG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LED-RETROFIT: KOMPATIBILITÄT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Eine LED-Röhre ist nicht automatisch ein einfacher Austausch für jede Leuchtstoffröhre.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05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VORSCHALTGERÄT BEIBEHALTEN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Nur LED-Röhren verwenden, die ausdrücklich mit dem vorhandenen Vorschaltgerät kompatibel sind. Modellliste des Herstellers prüfen.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1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4DB4"/>
                </a:solidFill>
                <a:latin typeface="Arial Black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LEUCHTE UMRÜSTEN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Einige Retrofit-Lösungen erfordern eine Änderung der Verdrahtung oder einen Bypass. Das ist eine Elektroarbeit.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901952"/>
            <a:ext cx="3429000" cy="27066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5" y="2130552"/>
            <a:ext cx="475488" cy="3017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6834D"/>
                </a:solidFill>
                <a:latin typeface="Arial Black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633472"/>
            <a:ext cx="2980944" cy="56692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 Black"/>
              </a:rPr>
              <a:t>KOMPLETTE LEUCHTE TAUSCHEN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3346704"/>
            <a:ext cx="2980944" cy="9144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Eine neue LED-Leuchte kann eine Alternative sein. Lichtverteilung, Montage und Gesamtkosten vergleichen.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937760"/>
            <a:ext cx="10780776" cy="667512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38928"/>
            <a:ext cx="101041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SICHERHEIT: Bei Verdrahtungsänderungen Elektrofachkraft beauftragen und Herstelleranleitungen befolgen.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05 · AUSWAHL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WENIGER WATT ≠ AUTOMATISCH GLEICHES LICHT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Bei einem fairen Vergleich kommt es auch auf die Lichtmenge und Leuchtenoptik 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06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Lichtstrom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Vergleiche die abgegebene Lichtmenge, nicht nur den Wattwert.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874519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2057400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KELVIN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6096" y="2039112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Lichtfarbe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441448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Warmweiß und Neutral-/Kaltweiß wirken unterschiedlich im Raum.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74DB4"/>
                </a:solidFill>
                <a:latin typeface="Arial Black"/>
              </a:rPr>
              <a:t>CRI / 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2264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Farbwiedergabe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Bei farbkritischen Aufgaben den Farbwiedergabeindex berücksichtigen.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355848"/>
            <a:ext cx="5266944" cy="125272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3538728"/>
            <a:ext cx="11430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LEUCHTE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6096" y="3520440"/>
            <a:ext cx="3611880" cy="31089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Optik &amp; Einbau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922776"/>
            <a:ext cx="4736592" cy="49377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Abstrahlwinkel, Fassung, Vorschaltgerät und Dimmung beachten.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148072"/>
            <a:ext cx="10780776" cy="585216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321808"/>
            <a:ext cx="100584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Auch eine passende LED-Röhre kann in einer anderen Leuchte eine andere Lichtwirkung erzeugen.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06 · INTERNE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WAS ZEIGEN 108 BEISPIELRECHNUNGEN?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Modelliert wird nur die mögliche Stromkosten-Differenz – keine garantierte Ersparnis.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07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28800"/>
            <a:ext cx="3154680" cy="3218688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6974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OFFENE ANNAHMEN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514600"/>
            <a:ext cx="2697480" cy="13075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D1B"/>
                </a:solidFill>
                <a:latin typeface="Arial"/>
              </a:rPr>
              <a:t>Alte Anlage: 54 / 68 / 80 W
LED: 18 / 24 / 30 W
Nutzung: 1.000–6.000 h/Jahr
Strompreis: 0,25–0,45 €/kWh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69663"/>
            <a:ext cx="2697480" cy="60350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Alle Werte sind Beispiel-Eingaben, keine gemessenen Produkte oder Tarifangebote.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828800"/>
            <a:ext cx="7388352" cy="3218688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075688"/>
            <a:ext cx="681228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 Black"/>
              </a:rPr>
              <a:t>DREI AUSGEWÄHLTE SZENARIEN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2523744"/>
            <a:ext cx="1874519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SZENARIO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523744"/>
            <a:ext cx="137160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KWH/J.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2328" y="2523744"/>
            <a:ext cx="1517904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D9FF"/>
                </a:solidFill>
                <a:latin typeface="Arial Black"/>
              </a:rPr>
              <a:t>€/J.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2862072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SPARSAME NUTZUNG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62072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2862072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6.00 €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2544" y="3310127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419856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MITTLERES BEISPIEL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19856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419856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38.50 €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3867911"/>
            <a:ext cx="6839712" cy="10972"/>
          </a:xfrm>
          <a:prstGeom prst="rect">
            <a:avLst/>
          </a:prstGeom>
          <a:solidFill>
            <a:srgbClr val="70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77639"/>
            <a:ext cx="192024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 Black"/>
              </a:rPr>
              <a:t>HOHE NUTZUNG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77639"/>
            <a:ext cx="1298448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977639"/>
            <a:ext cx="155448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111.60 €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0832" y="4590288"/>
            <a:ext cx="6766560" cy="27432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Beispiel: (68−24 W) × 2.500 h ÷ 1.000 × 0,35 €/kWh = 38,50 €/Jahr.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0096"/>
            <a:ext cx="10698480" cy="329184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46862"/>
                </a:solidFill>
                <a:latin typeface="Arial"/>
              </a:rPr>
              <a:t>Sensitivitätsbereich der 108 Kombinationen: 24–372 kWh bzw. 6,00–167,40 €/Jahr. Modell-Ergebnis, keine Vorhersage.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96712"/>
            <a:ext cx="10698480" cy="38404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46862"/>
                </a:solidFill>
                <a:latin typeface="Arial"/>
              </a:rPr>
              <a:t>Nicht berücksichtigt: Anschaffung, Installation, Lebensdauer, Lichtgleichheit, Dimmung und Tarifänderungen. Werte müssen real gemessen werden.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07 · EIGENE BERECHNUNG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SO MACHST DU DIE RECHNUNG PRÄZISER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Miss oder prüfe die reale Gesamtleistungsaufnahme – Vorschaltgeräte können mitverbrauchen.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08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47088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20824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02536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ALT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1975104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Leuchtenaufnahme in Watt; wenn möglich an der Steckdose messen oder Herstellerdaten nutzen.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660904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834640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816352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LEISTUNG NEU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2788920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Watt der kompletten LED-Lösung laut Datenblatt – nicht nur ein Teilbauteil.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3474720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648456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34D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30168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BETRIEBSSTUNDEN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3602736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Tatsächliche jährliche Betriebszeit der Leuchte schätzen oder protokollieren.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4288536"/>
            <a:ext cx="10780776" cy="640080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462272"/>
            <a:ext cx="411480" cy="20116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74DB4"/>
                </a:solidFill>
                <a:latin typeface="Arial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443983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1D1B"/>
                </a:solidFill>
                <a:latin typeface="Arial Black"/>
              </a:rPr>
              <a:t>STROMPREIS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3904" y="4416551"/>
            <a:ext cx="7406640" cy="34747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43A38"/>
                </a:solidFill>
                <a:latin typeface="Arial"/>
              </a:rPr>
              <a:t>Eigenen Arbeitspreis in €/kWh aus der Abrechnung verwenden.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5285232"/>
            <a:ext cx="10780776" cy="59436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449824"/>
            <a:ext cx="10149840" cy="24688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 Black"/>
              </a:rPr>
              <a:t>Ersparnis (€) = (Watt alt − Watt neu) × Stunden/Jahr ÷ 1.000 × €/kWh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08 · KURZ GEPRÜFT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DREI IRRTÜMER – DREI KLARSTELLUNGEN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Kleine Checks verhindern unnötige Käufe und falsche Sparversprechen.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09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83664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" y="1883664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39112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„Alle Lampen müssen 2026 raus.“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039112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Zu pauschal: T5/T8-Allgemeinbeleuchtung und vorhandene Installation nicht verwechseln.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2953512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1E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953512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08960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„Jede LED-Röhre passt.“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Nein: Fassung und Vorschaltgerät müssen mit der jeweiligen LED-Lösung kompatibel sein.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023360"/>
            <a:ext cx="10780776" cy="877824"/>
          </a:xfrm>
          <a:prstGeom prst="roundRect">
            <a:avLst>
              <a:gd name="adj" fmla="val 7000"/>
            </a:avLst>
          </a:prstGeom>
          <a:solidFill>
            <a:srgbClr val="EAE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944" y="4023360"/>
            <a:ext cx="128016" cy="877824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178808"/>
            <a:ext cx="365760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D1B"/>
                </a:solidFill>
                <a:latin typeface="Arial Black"/>
              </a:rPr>
              <a:t>„Weniger Watt garantiert Ersparnis.“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78808"/>
            <a:ext cx="6263640" cy="53035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43A38"/>
                </a:solidFill>
                <a:latin typeface="Arial"/>
              </a:rPr>
              <a:t>Nicht allein: Betriebsstunden, Lichtbedarf, Anschaffung und Strompreis zählen 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20040"/>
            <a:ext cx="1078992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"/>
              </a:rPr>
              <a:t>09 · FAZIT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21792"/>
            <a:ext cx="10972800" cy="7132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B1D1B"/>
                </a:solidFill>
                <a:latin typeface="Arial Black"/>
              </a:rPr>
              <a:t>ERST PRÜFEN. DANN UMRÜSTEN. RICHTIG ENTSORGEN.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371600"/>
            <a:ext cx="10881360" cy="39319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46862"/>
                </a:solidFill>
                <a:latin typeface="Arial"/>
              </a:rPr>
              <a:t>Drei Dinge zum Mitnehmen – plus offizielle Quellen zum Nachlesen.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D7D9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64808"/>
            <a:ext cx="5486400" cy="182880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6862"/>
                </a:solidFill>
                <a:latin typeface="Arial"/>
              </a:rPr>
              <a:t>LICHT · TECHNIK · UMWELT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52760" y="6437376"/>
            <a:ext cx="868680" cy="2103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6862"/>
                </a:solidFill>
                <a:latin typeface="Arial"/>
              </a:rPr>
              <a:t>10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LAMPENTYP KLÄREN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T5/T8 oder andere Lampe? EU-Ausnahmen nach Typ und Anwendungszweck unterscheiden.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74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KOMPATIBILITÄT PRÜFEN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LED-Retrofit auf Leuchte und Vorschaltgerät abstimmen; Verdrahtungsarbeiten Fachkraft überlassen.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810512"/>
            <a:ext cx="3429000" cy="1417320"/>
          </a:xfrm>
          <a:prstGeom prst="roundRect">
            <a:avLst>
              <a:gd name="adj" fmla="val 7000"/>
            </a:avLst>
          </a:prstGeom>
          <a:solidFill>
            <a:srgbClr val="168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993392"/>
            <a:ext cx="3026664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 Black"/>
              </a:rPr>
              <a:t>GETRENNT SAMMELN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514600"/>
            <a:ext cx="3026664" cy="58521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Leuchtstoffröhren und LED-Lampen nicht in den Hausmüll geben.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10698480" cy="219456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834D"/>
                </a:solidFill>
                <a:latin typeface="Arial Black"/>
              </a:rPr>
              <a:t>OFFIZIELLE QUELLEN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86200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EU-Rechtsquelle: Delegierte Richtlinie (EU) 2022/284 (RoHS)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86200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https://eur-lex.europa.eu/eli/dir_del/2022/284/oj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325112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EU-Kommission: RoHS-Richtlinie und Umsetzung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25112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https://environment.ec.europa.eu/topics/waste-and-recycling/rohs-directive_en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64024"/>
            <a:ext cx="5760720" cy="25603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43A38"/>
                </a:solidFill>
                <a:latin typeface="Arial"/>
              </a:rPr>
              <a:t>Umweltbundesamt: Wohin mit kaputten Lampen?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764024"/>
            <a:ext cx="5074920" cy="292608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74DB4"/>
                </a:solidFill>
                <a:latin typeface="Arial"/>
              </a:rPr>
              <a:t>https://www.umweltbundesamt.de/service/uba-fragen/wohin-kaputten-lampen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486400"/>
            <a:ext cx="10652760" cy="438912"/>
          </a:xfrm>
          <a:prstGeom prst="rect">
            <a:avLst/>
          </a:prstGeom>
          <a:noFill/>
        </p:spPr>
        <p:txBody>
          <a:bodyPr wrap="square" lIns="45720" rIns="45720" anchor="t">
            <a:norm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6862"/>
                </a:solidFill>
                <a:latin typeface="Arial"/>
              </a:rPr>
              <a:t>Faktenstand: September 2026. Eigene schematische Illustrationen. Simulationen mit ausdrücklich angenommenen Eingaben; keine Produkt- oder Einspargarantie.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Abschied von der Leuchtstofflampe</dc:title>
  <dc:subject>Technik, RoHS-Einordnung, Entsorgung, LED-Umstieg und modellierte Energieszenarien</dc:subject>
  <dc:creator>EULEN Werkstatt</dc:creator>
  <cp:keywords>Leuchtstofflampe, LED, T5, T8, RoHS, Recycling, Simulation</cp:keywords>
  <dc:description>10 Folien. Modellrechnungen mit offen ausgewiesenen Beispielannahmen; 108 Sensitivitätsfälle intern geprüft.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