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ns0:Relationship Id="rId4" Type="http://schemas.openxmlformats.org/officeDocument/2006/relationships/image" Target="../media/image3.jpg" /><ns0:Relationship Id="rId5" Type="http://schemas.openxmlformats.org/officeDocument/2006/relationships/image" Target="../media/image4.jpg" /></ns0: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38912"/>
            <a:ext cx="11109960" cy="63093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B1D1B"/>
                </a:solidFill>
                <a:latin typeface="Arial Black"/>
              </a:rPr>
              <a:t>DER ABSCHIED VON DER LEUCHTSTOFFLAMPE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097280"/>
            <a:ext cx="10195560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6862"/>
                </a:solidFill>
                <a:latin typeface="Arial"/>
              </a:rPr>
              <a:t>Was sich ändert – und was beim Wechsel wirklich zählt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530352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7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3008375"/>
            <a:ext cx="4937759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 Black"/>
              </a:rPr>
              <a:t>UV-SCHWARZLICHTRÖHREN · SONDERANWENDUNG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627632"/>
            <a:ext cx="530352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7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3008375"/>
            <a:ext cx="4937759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 Black"/>
              </a:rPr>
              <a:t>UV-C-QUECKSILBERLAMPE · SPEZIALANWENDUNG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639312"/>
            <a:ext cx="5303520" cy="1856231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822191"/>
            <a:ext cx="4901183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WAS DIE EU-REGEL SAGT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343400"/>
            <a:ext cx="4901183" cy="1024127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Für T5/T8-Röhren zur Allgemeinbeleuchtung endete eine RoHS-Ausnahme am 24.08.2023. Das ist kein pauschaler Austauschzwang für jede vorhandene Leuchte.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3639312"/>
            <a:ext cx="5303520" cy="1856231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3822191"/>
            <a:ext cx="4901183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UV-SPEZIALANWENDUNG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4343400"/>
            <a:ext cx="4901183" cy="1024127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Die gezeigte UV-C-Lampe ist keine Raumlicht-LED. Bei Leuchtstofflampen zuerst Lampentyp und Anwendung feststellen.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925312"/>
            <a:ext cx="10789920" cy="237744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6862"/>
                </a:solidFill>
                <a:latin typeface="Arial"/>
              </a:rPr>
              <a:t>Faktenstand: September 2026  ·  Beispielsimulationen auf Folie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52760" y="5925312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01  / 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907791"/>
            <a:ext cx="5248656" cy="429768"/>
          </a:xfrm>
          <a:prstGeom prst="roundRect">
            <a:avLst>
              <a:gd name="adj" fmla="val 7000"/>
            </a:avLst>
          </a:prstGeom>
          <a:solidFill>
            <a:srgbClr val="343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UV-SCHWARZLICHTRÖHREN · SONDERANWENDUNG" descr="UV-SCHWARZLICHTRÖHREN · SONDERANWENDU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655064"/>
            <a:ext cx="5248656" cy="168249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63640" y="2907791"/>
            <a:ext cx="5248656" cy="429768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UV-C-QUECKSILBERLAMPE · SPEZIALANWENDUNG" descr="UV-C-QUECKSILBERLAMPE · SPEZIALANWENDU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655064"/>
            <a:ext cx="5248656" cy="16824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01 · FUNKTIONSWEISE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WIE MACHT DIE RÖHRE LICHT?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Von der Gasentladung bis zum sichtbaren Licht – vereinfacht dargestellt.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02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38528"/>
            <a:ext cx="3447288" cy="3127248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167128"/>
            <a:ext cx="512064" cy="512064"/>
          </a:xfrm>
          <a:prstGeom prst="ellipse">
            <a:avLst/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313432"/>
            <a:ext cx="512064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898648"/>
            <a:ext cx="2990088" cy="38404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1D1B"/>
                </a:solidFill>
                <a:latin typeface="Arial Black"/>
              </a:rPr>
              <a:t>GASENTLADUNG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429000"/>
            <a:ext cx="2990088" cy="11430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43A38"/>
                </a:solidFill>
                <a:latin typeface="Arial"/>
              </a:rPr>
              <a:t>Elektroden und Vorschaltgerät ermöglichen den Betrieb einer Gasentladung in der Röhre.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" y="4718304"/>
            <a:ext cx="2990088" cy="41148"/>
          </a:xfrm>
          <a:prstGeom prst="rect">
            <a:avLst/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34255" y="1938528"/>
            <a:ext cx="3447288" cy="3127248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53712" y="2167128"/>
            <a:ext cx="512064" cy="512064"/>
          </a:xfrm>
          <a:prstGeom prst="ellipse">
            <a:avLst/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313432"/>
            <a:ext cx="512064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898648"/>
            <a:ext cx="2990088" cy="38404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1D1B"/>
                </a:solidFill>
                <a:latin typeface="Arial Black"/>
              </a:rPr>
              <a:t>UV-STRAHLUNG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5" y="3429000"/>
            <a:ext cx="2990088" cy="11430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43A38"/>
                </a:solidFill>
                <a:latin typeface="Arial"/>
              </a:rPr>
              <a:t>Die Entladung in quecksilberhaltigem Niederdruckdampf erzeugt vor allem ultraviolette Strahlung.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62855" y="4718304"/>
            <a:ext cx="2990088" cy="41148"/>
          </a:xfrm>
          <a:prstGeom prst="rect">
            <a:avLst/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10144" y="1938528"/>
            <a:ext cx="3447288" cy="3127248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29600" y="2167128"/>
            <a:ext cx="512064" cy="512064"/>
          </a:xfrm>
          <a:prstGeom prst="ellipse">
            <a:avLst/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313432"/>
            <a:ext cx="512064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898648"/>
            <a:ext cx="2990088" cy="38404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1D1B"/>
                </a:solidFill>
                <a:latin typeface="Arial Black"/>
              </a:rPr>
              <a:t>SICHTBARES LICHT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8744" y="3429000"/>
            <a:ext cx="2990088" cy="11430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43A38"/>
                </a:solidFill>
                <a:latin typeface="Arial"/>
              </a:rPr>
              <a:t>Eine Leuchtstoffschicht wandelt die UV-Strahlung in sichtbares Licht um.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38744" y="4718304"/>
            <a:ext cx="2990088" cy="41148"/>
          </a:xfrm>
          <a:prstGeom prst="rect">
            <a:avLst/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5513832"/>
            <a:ext cx="10789920" cy="329184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6862"/>
                </a:solidFill>
                <a:latin typeface="Arial"/>
              </a:rPr>
              <a:t>Vorsicht: Die Fotos zeigen UV-Speziallampen, nicht gewöhnliche Raumbeleuchtung. Normale Leuchtstofflampen nutzen denselben Grundmechanismus, aber eine andere Leuchtschicht.</a:t>
            </a:r>
          </a:p>
        </p:txBody>
      </p:sp>
      <p:pic>
        <p:nvPicPr>
          <p:cNvPr id="27" name="Leuchtstofflampen im Einsatz · UV-Schwarzlicht" descr="Leuchtstofflampen im Einsatz · UV-Schwarzlich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68" y="5074920"/>
            <a:ext cx="3456432" cy="84124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7973568" y="5689031"/>
            <a:ext cx="3456432" cy="227136"/>
          </a:xfrm>
          <a:prstGeom prst="rect">
            <a:avLst/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36576" tIns="13716" bIns="0"/>
          <a:lstStyle/>
          <a:p>
            <a:pPr algn="l"/>
            <a:r>
              <a:rPr sz="800" b="1">
                <a:solidFill>
                  <a:srgbClr val="FFFFFF"/>
                </a:solidFill>
                <a:latin typeface="Arial"/>
              </a:rPr>
              <a:t>LEUCHTSTOFFLAMPEN IM EINSATZ · UV-SCHWARZLICHT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02 · EU-REGELN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KEIN PAUSCHALES „VERBOT AB 2026“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Der oft verkürzte Begriff „Verbot“ verschleiert, welche Rechtsregel und welche Lampe gemeint 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03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920240"/>
            <a:ext cx="5239512" cy="1883664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103120"/>
            <a:ext cx="4837176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WAS AUSLÄUFT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624328"/>
            <a:ext cx="4837176" cy="10515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RoHS beschränkt bestimmte Schadstoffe in Elektrogeräten. Für lineare T5-/T8-Leuchtstofflampen zur Allgemeinbeleuchtung endete die einschlägige Quecksilber-Ausnahme am 24. August 2023.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920240"/>
            <a:ext cx="5239512" cy="1883664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2103120"/>
            <a:ext cx="4837176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WAS DAS NICHT BEDEUTET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2624328"/>
            <a:ext cx="4837176" cy="10515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Kein pauschaler Stichtag 2026, zu dem jede installierte Lampe ausgebaut werden muss. Andere Lampentypen und spezielle Anwendungen können anders geregelt sein.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" y="4142232"/>
            <a:ext cx="10780776" cy="1051560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343400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 Black"/>
              </a:rPr>
              <a:t>RECHTLICHER UNTERSCHIED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672584"/>
            <a:ext cx="10058400" cy="3657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D1B"/>
                </a:solidFill>
                <a:latin typeface="Arial"/>
              </a:rPr>
              <a:t>„Inverkehrbringen“ neuer Produkte ist nicht dasselbe wie Betrieb einer bereits vorhandenen Leuchte. Bei konkreter Beschaffung stets Lampentyp und aktuelle Rechtslage prüfen.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50992"/>
            <a:ext cx="10698480" cy="27432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6862"/>
                </a:solidFill>
                <a:latin typeface="Arial"/>
              </a:rPr>
              <a:t>Quelle: Delegierte Richtlinie (EU) 2022/284 zur Änderung der RoHS-Richtlinie 2011/65/EU.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03 · UMWELT &amp; ENTSORGUNG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ALTLAMPEN RICHTIG ABGEBEN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Leuchtstoffröhren gehören zur getrennten Sammlung – nicht in den Hausmüll.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04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901952"/>
            <a:ext cx="3429000" cy="1993392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08483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VORSICHTIG HANDHABEN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606040"/>
            <a:ext cx="3026664" cy="11612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Röhren möglichst unbeschädigt transportieren. Bei Bruch örtliche Hinweise zur Reinigung befolgen.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901952"/>
            <a:ext cx="3429000" cy="1993392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08483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SAMMELSTELLE NUTZEN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06040"/>
            <a:ext cx="3026664" cy="11612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Wertstoffhof oder kommunale Sammelstelle. Je nach Händler ist auch eine Rückgabe im Handel möglich.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01952"/>
            <a:ext cx="3429000" cy="1993392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08483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LED AUCH SAMMELN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606040"/>
            <a:ext cx="3026664" cy="11612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LED-Lampen gehören ebenfalls nicht in den Hausmüll; sie werden getrennt als Elektroaltgeräte erfasst.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" y="4315968"/>
            <a:ext cx="10780776" cy="822960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562856"/>
            <a:ext cx="10131552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"/>
              </a:rPr>
              <a:t>Grund: Leuchtstofflampen enthalten Quecksilber; getrennte Erfassung ermöglicht fachgerechte Behandlung und Verwertung.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504688"/>
            <a:ext cx="10698480" cy="27432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6862"/>
                </a:solidFill>
                <a:latin typeface="Arial"/>
              </a:rPr>
              <a:t>Quelle: Umweltbundesamt, „Wohin mit kaputten Lampen?“ · Das Foto zeigt UV-Schwarzlicht-Sonderlampen.</a:t>
            </a:r>
          </a:p>
        </p:txBody>
      </p:sp>
      <p:pic>
        <p:nvPicPr>
          <p:cNvPr id="20" name="Echte UV-Leuchtstoffröhren · Sonderanwendung" descr="Echte UV-Leuchtstoffröhren · Sonderanwendu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5230368"/>
            <a:ext cx="3675887" cy="85039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726679" y="5852159"/>
            <a:ext cx="3675887" cy="228600"/>
          </a:xfrm>
          <a:prstGeom prst="rect">
            <a:avLst/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36576" tIns="13716" bIns="0"/>
          <a:lstStyle/>
          <a:p>
            <a:pPr algn="l"/>
            <a:r>
              <a:rPr sz="800" b="1">
                <a:solidFill>
                  <a:srgbClr val="FFFFFF"/>
                </a:solidFill>
                <a:latin typeface="Arial"/>
              </a:rPr>
              <a:t>ECHTE UV-LEUCHTSTOFFRÖHREN · SONDERANWENDUNG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04 · UMSTIEG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LED-RETROFIT: KOMPATIBILITÄT PRÜFEN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Eine LED-Röhre ist nicht automatisch ein einfacher Austausch für jede Leuchtstoffröhre.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05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901952"/>
            <a:ext cx="3429000" cy="2706624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30552"/>
            <a:ext cx="475488" cy="3017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6834D"/>
                </a:solidFill>
                <a:latin typeface="Arial Black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2980944" cy="56692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 Black"/>
              </a:rPr>
              <a:t>VORSCHALTGERÄT BEIBEHALTEN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46704"/>
            <a:ext cx="2980944" cy="9144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Nur LED-Röhren verwenden, die ausdrücklich mit dem vorhandenen Vorschaltgerät kompatibel sind. Modellliste des Herstellers prüfen.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1" y="1901952"/>
            <a:ext cx="3429000" cy="2706624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130552"/>
            <a:ext cx="475488" cy="3017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4DB4"/>
                </a:solidFill>
                <a:latin typeface="Arial Black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633472"/>
            <a:ext cx="2980944" cy="56692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 Black"/>
              </a:rPr>
              <a:t>LEUCHTE UMRÜSTEN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3346704"/>
            <a:ext cx="2980944" cy="9144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Einige Retrofit-Lösungen erfordern eine Änderung der Verdrahtung oder einen Bypass. Das ist eine Elektroarbeit.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901952"/>
            <a:ext cx="3429000" cy="2706624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5" y="2130552"/>
            <a:ext cx="475488" cy="3017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6834D"/>
                </a:solidFill>
                <a:latin typeface="Arial Black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2633472"/>
            <a:ext cx="2980944" cy="56692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 Black"/>
              </a:rPr>
              <a:t>KOMPLETTE LEUCHTE TAUSCHEN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5" y="3346704"/>
            <a:ext cx="2980944" cy="9144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Eine neue LED-Leuchte kann eine Alternative sein. Lichtverteilung, Montage und Gesamtkosten vergleichen.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" y="4937760"/>
            <a:ext cx="10780776" cy="667512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138928"/>
            <a:ext cx="1010412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SICHERHEIT: Bei Verdrahtungsänderungen Elektrofachkraft beauftragen und Herstelleranleitungen befolgen.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05 · AUSWAHL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WENIGER WATT ≠ AUTOMATISCH GLEICHES LICHT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Bei einem fairen Vergleich kommt es auch auf die Lichtmenge und Leuchtenoptik 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06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874519"/>
            <a:ext cx="5266944" cy="1252728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57400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 Black"/>
              </a:rPr>
              <a:t>LUMEN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12264" y="2039112"/>
            <a:ext cx="3611880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Lichtstrom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441448"/>
            <a:ext cx="4736592" cy="49377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Vergleiche die abgegebene Lichtmenge, nicht nur den Wattwert.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1874519"/>
            <a:ext cx="5266944" cy="1252728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2057400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4DB4"/>
                </a:solidFill>
                <a:latin typeface="Arial Black"/>
              </a:rPr>
              <a:t>KELVIN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6096" y="2039112"/>
            <a:ext cx="3611880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Lichtfarbe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2441448"/>
            <a:ext cx="4736592" cy="49377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Warmweiß und Neutral-/Kaltweiß wirken unterschiedlich im Raum.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" y="3355848"/>
            <a:ext cx="5266944" cy="1252728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3538728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4DB4"/>
                </a:solidFill>
                <a:latin typeface="Arial Black"/>
              </a:rPr>
              <a:t>CRI / 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12264" y="3520440"/>
            <a:ext cx="3611880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Farbwiedergabe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3922776"/>
            <a:ext cx="4736592" cy="49377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Bei farbkritischen Aufgaben den Farbwiedergabeindex berücksichtigen.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355848"/>
            <a:ext cx="5266944" cy="1252728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91656" y="3538728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 Black"/>
              </a:rPr>
              <a:t>LEUCHTE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6096" y="3520440"/>
            <a:ext cx="3611880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Optik &amp; Einbau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656" y="3922776"/>
            <a:ext cx="4736592" cy="49377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Abstrahlwinkel, Fassung, Vorschaltgerät und Dimmung beachten.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" y="5148072"/>
            <a:ext cx="10780776" cy="585216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5321808"/>
            <a:ext cx="100584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Auch eine passende LED-Röhre kann in einer anderen Leuchte eine andere Lichtwirkung erzeugen.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06 · INTERNE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WAS ZEIGEN 10.080 SIMULATIONEN?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Modelliert wird nur die mögliche Stromkosten-Differenz – keine garantierte Ersparnis.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07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828800"/>
            <a:ext cx="3154680" cy="3218688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075688"/>
            <a:ext cx="2697480" cy="2468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834D"/>
                </a:solidFill>
                <a:latin typeface="Arial Black"/>
              </a:rPr>
              <a:t>OFFENE ANNAHMEN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514600"/>
            <a:ext cx="2697480" cy="13075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"/>
              </a:rPr>
              <a:t>Alte Anlage: 40–100 W (5-W-Schritte)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"/>
              </a:rPr>
              <a:t>LED: 10–40 W (5-W-Schritte)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"/>
              </a:rPr>
              <a:t>Nutzung: 500–8.000 h/Jahr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"/>
              </a:rPr>
              <a:t>Strompreis: 0,20–0,50 €/kWh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4169663"/>
            <a:ext cx="2697480" cy="603504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46862"/>
                </a:solidFill>
                <a:latin typeface="Arial"/>
              </a:rPr>
              <a:t>Alle Werte sind Beispiel-Eingaben, keine gemessenen Produkte oder Tarifangebote.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828800"/>
            <a:ext cx="7388352" cy="3218688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075688"/>
            <a:ext cx="6812280" cy="2468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 Black"/>
              </a:rPr>
              <a:t>DREI AUSGEWÄHLTE SZENARIEN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832" y="2523744"/>
            <a:ext cx="1874519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D9FF"/>
                </a:solidFill>
                <a:latin typeface="Arial Black"/>
              </a:rPr>
              <a:t>SZENARIO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523744"/>
            <a:ext cx="13716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D9FF"/>
                </a:solidFill>
                <a:latin typeface="Arial Black"/>
              </a:rPr>
              <a:t>KWH/J.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82328" y="2523744"/>
            <a:ext cx="1517904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D9FF"/>
                </a:solidFill>
                <a:latin typeface="Arial Black"/>
              </a:rPr>
              <a:t>€/J.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2862072"/>
            <a:ext cx="192024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 Black"/>
              </a:rPr>
              <a:t>NIEDRIGE NUTZUNG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862072"/>
            <a:ext cx="1298448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36608" y="2862072"/>
            <a:ext cx="155448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 Black"/>
              </a:rPr>
              <a:t>5.00 €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52544" y="3310127"/>
            <a:ext cx="6839712" cy="10972"/>
          </a:xfrm>
          <a:prstGeom prst="rect">
            <a:avLst/>
          </a:prstGeom>
          <a:solidFill>
            <a:srgbClr val="70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0832" y="3419856"/>
            <a:ext cx="192024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 Black"/>
              </a:rPr>
              <a:t>MITTLERE NUTZUNG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419856"/>
            <a:ext cx="1298448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112,5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36608" y="3419856"/>
            <a:ext cx="155448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 Black"/>
              </a:rPr>
              <a:t>39,38 €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2544" y="3867911"/>
            <a:ext cx="6839712" cy="10972"/>
          </a:xfrm>
          <a:prstGeom prst="rect">
            <a:avLst/>
          </a:prstGeom>
          <a:solidFill>
            <a:srgbClr val="70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0832" y="3977639"/>
            <a:ext cx="192024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 Black"/>
              </a:rPr>
              <a:t>HOHE NUTZUNG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977639"/>
            <a:ext cx="1298448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3977639"/>
            <a:ext cx="155448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 Black"/>
              </a:rPr>
              <a:t>153,00 €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0832" y="4590288"/>
            <a:ext cx="6766560" cy="27432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Mitte: (70−25 W) × 2.500 h ÷ 1.000 = 112,5 kWh; × 0,35 €/kWh = 39,38 €/Jahr.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340096"/>
            <a:ext cx="10698480" cy="329184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46862"/>
                </a:solidFill>
                <a:latin typeface="Arial"/>
              </a:rPr>
              <a:t>10.080 gültige Kombinationen (nur Fälle mit weniger LED-Watt): 2,5–720 kWh bzw. 0,50–360,00 €/Jahr. Äußerer Modellbereich, keine typische Erwartung.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696712"/>
            <a:ext cx="10698480" cy="38404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6862"/>
                </a:solidFill>
                <a:latin typeface="Arial"/>
              </a:rPr>
              <a:t>Nicht berücksichtigt: Anschaffung, Installation, Lebensdauer, Lichtgleichheit, Dimmung und Tarifänderungen. Werte müssen real gemessen werden.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07 · EIGENE BERECHNUNG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SO MACHST DU DIE RECHNUNG PRÄZISER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Miss oder prüfe die reale Gesamtleistungsaufnahme – Vorschaltgeräte können mitverbrauchen.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08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847088"/>
            <a:ext cx="10780776" cy="640080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020824"/>
            <a:ext cx="411480" cy="20116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834D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002536"/>
            <a:ext cx="2331720" cy="2286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1D1B"/>
                </a:solidFill>
                <a:latin typeface="Arial Black"/>
              </a:rPr>
              <a:t>LEISTUNG ALT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3904" y="1975104"/>
            <a:ext cx="7406640" cy="34747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Leuchtenaufnahme in Watt; wenn möglich an der Steckdose messen oder Herstellerdaten nutzen.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" y="2660904"/>
            <a:ext cx="10780776" cy="640080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834640"/>
            <a:ext cx="411480" cy="20116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74DB4"/>
                </a:solidFill>
                <a:latin typeface="Arial Blac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816352"/>
            <a:ext cx="2331720" cy="2286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1D1B"/>
                </a:solidFill>
                <a:latin typeface="Arial Black"/>
              </a:rPr>
              <a:t>LEISTUNG NEU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3904" y="2788920"/>
            <a:ext cx="7406640" cy="34747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Watt der kompletten LED-Lösung laut Datenblatt – nicht nur ein Teilbauteil.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" y="3474720"/>
            <a:ext cx="10780776" cy="640080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648456"/>
            <a:ext cx="411480" cy="20116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834D"/>
                </a:solidFill>
                <a:latin typeface="Arial Black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630168"/>
            <a:ext cx="2331720" cy="2286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1D1B"/>
                </a:solidFill>
                <a:latin typeface="Arial Black"/>
              </a:rPr>
              <a:t>BETRIEBSSTUNDEN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3904" y="3602736"/>
            <a:ext cx="7406640" cy="34747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Tatsächliche jährliche Betriebszeit der Leuchte schätzen oder protokollieren.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" y="4288536"/>
            <a:ext cx="10780776" cy="640080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462272"/>
            <a:ext cx="411480" cy="20116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74DB4"/>
                </a:solidFill>
                <a:latin typeface="Arial Blac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443983"/>
            <a:ext cx="2331720" cy="2286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1D1B"/>
                </a:solidFill>
                <a:latin typeface="Arial Black"/>
              </a:rPr>
              <a:t>STROMPREIS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03904" y="4416551"/>
            <a:ext cx="7406640" cy="34747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Eigenen Arbeitspreis in €/kWh aus der Abrechnung verwenden.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" y="5285232"/>
            <a:ext cx="10780776" cy="594360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5449824"/>
            <a:ext cx="10149840" cy="2468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 Black"/>
              </a:rPr>
              <a:t>Ersparnis (€) = (Watt alt − Watt neu) × Stunden/Jahr ÷ 1.000 × €/kWh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08 · KURZ GEPRÜFT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DREI IRRTÜMER – DREI KLARSTELLUNGEN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Kleine Checks verhindern unnötige Käufe und falsche Sparversprechen.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09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883664"/>
            <a:ext cx="10780776" cy="877824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4944" y="1883664"/>
            <a:ext cx="128016" cy="877824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39112"/>
            <a:ext cx="365760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„Alle Lampen müssen 2026 raus.“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039112"/>
            <a:ext cx="626364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43A38"/>
                </a:solidFill>
                <a:latin typeface="Arial"/>
              </a:rPr>
              <a:t>Zu pauschal: T5/T8-Allgemeinbeleuchtung und vorhandene Installation nicht verwechseln.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" y="2953512"/>
            <a:ext cx="10780776" cy="877824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2953512"/>
            <a:ext cx="128016" cy="877824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108960"/>
            <a:ext cx="365760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„Jede LED-Röhre passt.“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108960"/>
            <a:ext cx="626364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43A38"/>
                </a:solidFill>
                <a:latin typeface="Arial"/>
              </a:rPr>
              <a:t>Nein: Fassung und Vorschaltgerät müssen mit der jeweiligen LED-Lösung kompatibel sein.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" y="4023360"/>
            <a:ext cx="10780776" cy="877824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94944" y="4023360"/>
            <a:ext cx="128016" cy="877824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4178808"/>
            <a:ext cx="365760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„Weniger Watt garantiert Ersparnis.“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4178808"/>
            <a:ext cx="626364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43A38"/>
                </a:solidFill>
                <a:latin typeface="Arial"/>
              </a:rPr>
              <a:t>Nicht allein: Betriebsstunden, Lichtbedarf, Anschaffung und Strompreis zählen mit.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09 · FAZIT &amp; QUELLEN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ERST PRÜFEN. DANN UMRÜSTEN. RICHTIG ENTSORGEN.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Drei Dinge zum Mitnehmen – plus offizielle Quellen zum Nachlesen.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10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810512"/>
            <a:ext cx="3429000" cy="1417320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9339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 Black"/>
              </a:rPr>
              <a:t>LAMPENTYP KLÄREN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514600"/>
            <a:ext cx="3026664" cy="58521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T5/T8 oder andere Lampe? EU-Ausnahmen nach Typ und Anwendungszweck unterscheiden.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810512"/>
            <a:ext cx="3429000" cy="1417320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199339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 Black"/>
              </a:rPr>
              <a:t>KOMPATIBILITÄT PRÜFEN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514600"/>
            <a:ext cx="3026664" cy="58521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LED-Retrofit auf Leuchte und Vorschaltgerät abstimmen; Verdrahtungsarbeiten Fachkraft überlassen.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810512"/>
            <a:ext cx="3429000" cy="1417320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99339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 Black"/>
              </a:rPr>
              <a:t>GETRENNT SAMMELN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514600"/>
            <a:ext cx="3026664" cy="58521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Leuchtstoffröhren und LED-Lampen nicht in den Hausmüll geben.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11296"/>
            <a:ext cx="10698480" cy="21945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 Black"/>
              </a:rPr>
              <a:t>OFFIZIELLE QUELLEN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886200"/>
            <a:ext cx="576072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43A38"/>
                </a:solidFill>
                <a:latin typeface="Arial"/>
              </a:rPr>
              <a:t>EU-Rechtsquelle: Delegierte Richtlinie (EU) 2022/284 (RoHS)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886200"/>
            <a:ext cx="5074920" cy="29260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74DB4"/>
                </a:solidFill>
                <a:latin typeface="Arial"/>
              </a:rPr>
              <a:t>https://eur-lex.europa.eu/eli/dir_del/2022/284/oj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325112"/>
            <a:ext cx="576072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43A38"/>
                </a:solidFill>
                <a:latin typeface="Arial"/>
              </a:rPr>
              <a:t>EU-Kommission: RoHS-Richtlinie und Umsetzung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325112"/>
            <a:ext cx="5074920" cy="29260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74DB4"/>
                </a:solidFill>
                <a:latin typeface="Arial"/>
              </a:rPr>
              <a:t>https://environment.ec.europa.eu/topics/waste-and-recycling/rohs-directive_en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764024"/>
            <a:ext cx="576072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43A38"/>
                </a:solidFill>
                <a:latin typeface="Arial"/>
              </a:rPr>
              <a:t>Umweltbundesamt: Wohin mit kaputten Lampen?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764024"/>
            <a:ext cx="5074920" cy="29260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74DB4"/>
                </a:solidFill>
                <a:latin typeface="Arial"/>
              </a:rPr>
              <a:t>https://www.umweltbundesamt.de/service/uba-fragen/wohin-kaputten-lampen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5486400"/>
            <a:ext cx="10652760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6862"/>
                </a:solidFill>
                <a:latin typeface="Arial"/>
              </a:rPr>
              <a:t>Faktenstand: September 2026. Fotos aus Wikimedia Commons, zugeschnitten: Chetvorno, „Two black light fluorescent tubes.jpg“ und „Two black light lamps.jpg“ (CC0 1.0); Atlant, „Germicidal Lamp 1.jpg“ (CC BY 2.5).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925312"/>
            <a:ext cx="106527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650">
                <a:solidFill>
                  <a:srgbClr val="646862"/>
                </a:solidFill>
                <a:latin typeface="Arial"/>
              </a:rPr>
              <a:t>Foto 1: Chetvorno, Two black light fluorescent tubes.jpg — CC0 1.0 — commons.wikimedia.org/wiki/File:Two_black_light_fluorescent_tubes.jpg</a:t>
            </a:r>
          </a:p>
          <a:p>
            <a:pPr>
              <a:spcAft>
                <a:spcPts val="0"/>
              </a:spcAft>
            </a:pPr>
            <a:r>
              <a:rPr sz="650">
                <a:solidFill>
                  <a:srgbClr val="646862"/>
                </a:solidFill>
                <a:latin typeface="Arial"/>
              </a:rPr>
              <a:t>Foto 2: Chetvorno, Two black light lamps.jpg — CC0 1.0 — commons.wikimedia.org/wiki/File:Two_black_light_lamps.jpg</a:t>
            </a:r>
          </a:p>
          <a:p>
            <a:pPr>
              <a:spcAft>
                <a:spcPts val="0"/>
              </a:spcAft>
            </a:pPr>
            <a:r>
              <a:rPr sz="650">
                <a:solidFill>
                  <a:srgbClr val="646862"/>
                </a:solidFill>
                <a:latin typeface="Arial"/>
              </a:rPr>
              <a:t>Foto 3: Atlant, Germicidal Lamp 1.jpg — CC BY 2.5 (beschnitten); Lizenz: creativecommons.org/licenses/by/2.5/; Quelle: commons.wikimedia.org/wiki/File:Germicidal_Lamp_1.jpg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Der Abschied von der Leuchtstofflampe</dc:title>
  <dc:subject>Technik, RoHS-Einordnung, Entsorgung, LED-Umstieg und 10.080 simulierte Stromkostenszenarien</dc:subject>
  <dc:creator>EULEN Werkstatt</dc:creator>
  <cp:keywords>Leuchtstofflampe, LED, T5, T8, RoHS, Recycling, Simulation</cp:keywords>
  <dc:description>Enthält echte Wikimedia-Commons-Fotografien mit sichtbaren Quellen- und Lizenzangaben. Sensitivitätsmodell: 10.080 gültige Eingabekombinationen.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