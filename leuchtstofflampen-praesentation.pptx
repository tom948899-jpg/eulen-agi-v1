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38912"/>
            <a:ext cx="11109960" cy="63093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1D1B"/>
                </a:solidFill>
                <a:latin typeface="Arial Black"/>
              </a:rPr>
              <a:t>DER ABSCHIED VON DER LEUCHTSTOFFLAMPE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097280"/>
            <a:ext cx="1019556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6862"/>
                </a:solidFill>
                <a:latin typeface="Arial"/>
              </a:rPr>
              <a:t>Was sich ändert – und was beim Wechsel wirklich zählt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 Black"/>
              </a:rPr>
              <a:t>UV-SCHWARZLICHTRÖHREN · SONDERANWENDUNG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 Black"/>
              </a:rPr>
              <a:t>UV-C-QUECKSILBERLAMPE · SPEZIALANWENDUNG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DIE EU-REGEL SAGT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Für T5/T8-Röhren zur Allgemeinbeleuchtung endete eine RoHS-Ausnahme am 24.08.2023. Das ist kein pauschaler Austauschzwang für jede vorhandene Leuchte.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UV-SPEZIALANWENDUNG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Die gezeigte UV-C-Lampe ist keine Raumlicht-LED. Bei Leuchtstofflampen zuerst Lampentyp und Anwendung feststellen.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25312"/>
            <a:ext cx="10789920" cy="23774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Faktenstand: September 2026  ·  Beispielsimulationen auf Folie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5925312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01  /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343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UV-SCHWARZLICHTRÖHREN · SONDERANWENDUNG" descr="UV-SCHWARZLICHTRÖHREN · SONDERANWENDU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55064"/>
            <a:ext cx="5248656" cy="16824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6364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UV-C-QUECKSILBERLAMPE · SPEZIALANWENDUNG" descr="UV-C-QUECKSILBERLAMPE · SPEZIALANWENDU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655064"/>
            <a:ext cx="5248656" cy="1682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01 · FUNKTIONSWEISE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WIE MACHT DIE RÖHRE LICHT?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Von der Gasentladung bis zum sichtbaren Licht – vereinfacht dargestellt.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02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GASENTLADUNG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Elektroden und Vorschaltgerät ermöglichen den Betrieb einer Gasentladung in der Röhre.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4255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67128"/>
            <a:ext cx="512064" cy="512064"/>
          </a:xfrm>
          <a:prstGeom prst="ellipse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UV-STRAHLUNG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Die Entladung in quecksilberhaltigem Niederdruckdampf erzeugt vor allem ultraviolette Strahlung.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2855" y="4718304"/>
            <a:ext cx="2990088" cy="41148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SICHTBARES LICHT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Eine Leuchtstoffschicht wandelt die UV-Strahlung in sichtbares Licht um.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5513832"/>
            <a:ext cx="1078992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6862"/>
                </a:solidFill>
                <a:latin typeface="Arial"/>
              </a:rPr>
              <a:t>Vorsicht: Die Fotos zeigen UV-Speziallampen, nicht gewöhnliche Raumbeleuchtung. Normale Leuchtstofflampen nutzen denselben Grundmechanismus, aber eine andere Leuchtschicht.</a:t>
            </a:r>
          </a:p>
        </p:txBody>
      </p:sp>
      <p:pic>
        <p:nvPicPr>
          <p:cNvPr id="27" name="Leuchtstofflampen im Einsatz · UV-Schwarzlicht" descr="Leuchtstofflampen im Einsatz · UV-Schwarzlich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5074920"/>
            <a:ext cx="3456432" cy="84124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973568" y="5689031"/>
            <a:ext cx="3456432" cy="227136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36576" tIns="13716" bIns="0"/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LEUCHTSTOFFLAMPEN IM EINSATZ · UV-SCHWARZLICHT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02 · EU-REGELN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KEIN PAUSCHALES „VERBOT AB 2026“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Der oft verkürzte Begriff „Verbot“ verschleiert, welche Rechtsregel und welche Lampe gemeint 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03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AUSLÄUFT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RoHS beschränkt bestimmte Schadstoffe in Elektrogeräten. Für lineare T5-/T8-Leuchtstofflampen zur Allgemeinbeleuchtung endete die einschlägige Quecksilber-Ausnahme am 24. August 2023.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DAS NICHT BEDEUTET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Kein pauschaler Stichtag 2026, zu dem jede installierte Lampe ausgebaut werden muss. Andere Lampentypen und spezielle Anwendungen können anders geregelt sein.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4142232"/>
            <a:ext cx="10780776" cy="105156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RECHTLICHER UNTERSCHIED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2584"/>
            <a:ext cx="10058400" cy="3657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D1B"/>
                </a:solidFill>
                <a:latin typeface="Arial"/>
              </a:rPr>
              <a:t>„Inverkehrbringen“ neuer Produkte ist nicht dasselbe wie Betrieb einer bereits vorhandenen Leuchte. Bei konkreter Beschaffung stets Lampentyp und aktuelle Rechtslage prüfen.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50992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Delegierte Richtlinie (EU) 2022/284 zur Änderung der RoHS-Richtlinie 2011/65/EU.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03 · UMWELT &amp; ENTSORGUNG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ALTLAMPEN RICHTIG ABGEBEN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Leuchtstoffröhren gehören zur getrennten Sammlung – nicht in den Hausmüll.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04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VORSICHTIG HANDHABEN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Röhren möglichst unbeschädigt transportieren. Bei Bruch örtliche Hinweise zur Reinigung befolgen.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SAMMELSTELLE NUTZEN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Wertstoffhof oder kommunale Sammelstelle. Je nach Händler ist auch eine Rückgabe im Handel möglich.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LED AUCH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LED-Lampen gehören ebenfalls nicht in den Hausmüll; sie werden getrennt als Elektroaltgeräte erfasst.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4315968"/>
            <a:ext cx="10780776" cy="82296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62856"/>
            <a:ext cx="10131552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Grund: Leuchtstofflampen enthalten Quecksilber; getrennte Erfassung ermöglicht fachgerechte Behandlung und Verwertung.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04688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Umweltbundesamt, „Wohin mit kaputten Lampen?“ · Das Foto zeigt UV-Schwarzlicht-Sonderlampen.</a:t>
            </a:r>
          </a:p>
        </p:txBody>
      </p:sp>
      <p:pic>
        <p:nvPicPr>
          <p:cNvPr id="20" name="Echte UV-Leuchtstoffröhren · Sonderanwendung" descr="Echte UV-Leuchtstoffröhren · Sonderanwendu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5230368"/>
            <a:ext cx="3675887" cy="8503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26679" y="5852159"/>
            <a:ext cx="3675887" cy="228600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36576" tIns="13716" bIns="0"/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ECHTE UV-LEUCHTSTOFFRÖHREN · SONDERANWENDUNG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04 · UMSTIEG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LED-RETROFIT: KOMPATIBILITÄT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Eine LED-Röhre ist nicht automatisch ein einfacher Austausch für jede Leuchtstoffröhre.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05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VORSCHALTGERÄT BEIBEHALTEN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Nur LED-Röhren verwenden, die ausdrücklich mit dem vorhandenen Vorschaltgerät kompatibel sind. Modellliste des Herstellers prüfen.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4DB4"/>
                </a:solidFill>
                <a:latin typeface="Arial Black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LEUCHTE UMRÜSTEN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Einige Retrofit-Lösungen erfordern eine Änderung der Verdrahtung oder einen Bypass. Das ist eine Elektroarbeit.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KOMPLETTE LEUCHTE TAUSCHEN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Eine neue LED-Leuchte kann eine Alternative sein. Lichtverteilung, Montage und Gesamtkosten vergleichen.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937760"/>
            <a:ext cx="10780776" cy="66751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38928"/>
            <a:ext cx="101041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SICHERHEIT: Bei Verdrahtungsänderungen Elektrofachkraft beauftragen und Herstelleranleitungen befolgen.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05 · AUSWAHL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WENIGER WATT ≠ AUTOMATISCH GLEICHES LICHT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Bei einem fairen Vergleich kommt es auch auf die Lichtmenge und Leuchtenoptik 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06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Lichtstrom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Vergleiche die abgegebene Lichtmenge, nicht nur den Wattwert.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KELVIN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6096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Warmweiß und Neutral-/Kaltweiß wirken unterschiedlich im Raum.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CRI / 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2264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Farbwiedergabe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Bei farbkritischen Aufgaben den Farbwiedergabeindex berücksichtigen.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LEUCHTE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6096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Optik &amp; Einbau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Abstrahlwinkel, Fassung, Vorschaltgerät und Dimmung beachten.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148072"/>
            <a:ext cx="10780776" cy="585216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321808"/>
            <a:ext cx="100584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Auch eine passende LED-Röhre kann in einer anderen Leuchte eine andere Lichtwirkung erzeugen.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06 · INTERNE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WAS ZEIGEN 10.080 SIMULATIONEN?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Modelliert wird nur die mögliche Stromkosten-Differenz – keine garantierte Ersparnis.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07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28800"/>
            <a:ext cx="3154680" cy="321868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6974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OFFENE ANNAHMEN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514600"/>
            <a:ext cx="2697480" cy="13075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Alte Anlage: 40–100 W (5-W-Schritte)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LED: 10–40 W (5-W-Schritte)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Nutzung: 500–8.000 h/Jahr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Strompreis: 0,20–0,50 €/kWh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69663"/>
            <a:ext cx="2697480" cy="60350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Alle Werte sind Beispiel-Eingaben, keine gemessenen Produkte oder Tarifangebote.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828800"/>
            <a:ext cx="7388352" cy="321868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075688"/>
            <a:ext cx="68122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 Black"/>
              </a:rPr>
              <a:t>DREI AUSGEWÄHLTE SZENARIEN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523744"/>
            <a:ext cx="187451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SZENARIO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523744"/>
            <a:ext cx="13716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KWH/J.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2328" y="2523744"/>
            <a:ext cx="1517904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€/J.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862072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NIEDRIGE NUTZUNG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62072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2862072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5.00 €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2544" y="3310127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419856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MITTLERE NUTZUNG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19856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112,5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419856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39,38 €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867911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77639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HOHE NUTZUNG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77639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977639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153,00 €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2" y="4590288"/>
            <a:ext cx="676656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Mitte: (70−25 W) × 2.500 h ÷ 1.000 = 112,5 kWh; × 0,35 €/kWh = 39,38 €/Jahr.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0096"/>
            <a:ext cx="1069848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10.080 gültige Kombinationen (nur Fälle mit weniger LED-Watt): 2,5–720 kWh bzw. 0,50–360,00 €/Jahr. Äußerer Modellbereich, keine typische Erwartung.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96712"/>
            <a:ext cx="10698480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Nicht berücksichtigt: Anschaffung, Installation, Lebensdauer, Lichtgleichheit, Dimmung und Tarifänderungen. Werte müssen real gemessen werden.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07 · EIGENE BERECHNUNG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SO MACHST DU DIE RECHNUNG PRÄZISER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Miss oder prüfe die reale Gesamtleistungsaufnahme – Vorschaltgeräte können mitverbrauchen.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08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47088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20824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02536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ALT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1975104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Leuchtenaufnahme in Watt; wenn möglich an der Steckdose messen oder Herstellerdaten nutzen.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660904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34640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816352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NEU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2788920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Watt der kompletten LED-Lösung laut Datenblatt – nicht nur ein Teilbauteil.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474720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648456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30168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BETRIEBSSTUNDEN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3602736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Tatsächliche jährliche Betriebszeit der Leuchte schätzen oder protokollieren.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288536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462272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443983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STROMPREIS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3904" y="4416551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Eigenen Arbeitspreis in €/kWh aus der Abrechnung verwenden.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285232"/>
            <a:ext cx="10780776" cy="59436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449824"/>
            <a:ext cx="1014984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Ersparnis (€) = (Watt alt − Watt neu) × Stunden/Jahr ÷ 1.000 × €/kWh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08 · KURZ GEPRÜFT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DREI IRRTÜMER – DREI KLARSTELLUNGEN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Kleine Checks verhindern unnötige Käufe und falsche Sparversprechen.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09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83664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" y="1883664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39112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„Alle Lampen müssen 2026 raus.“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039112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Zu pauschal: T5/T8-Allgemeinbeleuchtung und vorhandene Installation nicht verwechseln.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953512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953512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08960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„Jede LED-Röhre passt.“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Nein: Fassung und Vorschaltgerät müssen mit der jeweiligen LED-Lösung kompatibel sein.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023360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944" y="4023360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178808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„Weniger Watt garantiert Ersparnis.“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78808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Nicht allein: Betriebsstunden, Lichtbedarf, Anschaffung und Strompreis zählen 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09 · FAZIT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ERST PRÜFEN. DANN UMRÜSTEN. RICHTIG ENTSORGEN.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Drei Dinge zum Mitnehmen – plus offizielle Quellen zum Nachlesen.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10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LAMPENTYP KLÄREN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T5/T8 oder andere Lampe? EU-Ausnahmen nach Typ und Anwendungszweck unterscheiden.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KOMPATIBILITÄT PRÜFEN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LED-Retrofit auf Leuchte und Vorschaltgerät abstimmen; Verdrahtungsarbeiten Fachkraft überlassen.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GETRENNT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Leuchtstoffröhren und LED-Lampen nicht in den Hausmüll geben.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10698480" cy="21945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OFFIZIELLE QUELLEN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86200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EU-Rechtsquelle: Delegierte Richtlinie (EU) 2022/284 (RoHS)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86200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https://eur-lex.europa.eu/eli/dir_del/2022/284/oj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325112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EU-Kommission: RoHS-Richtlinie und Umsetzung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25112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https://environment.ec.europa.eu/topics/waste-and-recycling/rohs-directive_en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64024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Umweltbundesamt: Wohin mit kaputten Lampen?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764024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https://www.umweltbundesamt.de/service/uba-fragen/wohin-kaputten-lampen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486400"/>
            <a:ext cx="10652760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6862"/>
                </a:solidFill>
                <a:latin typeface="Arial"/>
              </a:rPr>
              <a:t>Faktenstand: September 2026. Fotos aus Wikimedia Commons, zugeschnitten: Chetvorno, „Two black light fluorescent tubes.jpg“ und „Two black light lamps.jpg“ (CC0 1.0); Atlant, „Germicidal Lamp 1.jpg“ (CC BY 2.5).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925312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1: Chetvorno, Two black light fluorescent tubes.jpg — CC0 1.0 — commons.wikimedia.org/wiki/File:Two_black_light_fluorescent_tubes.jpg</a:t>
            </a:r>
          </a:p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2: Chetvorno, Two black light lamps.jpg — CC0 1.0 — commons.wikimedia.org/wiki/File:Two_black_light_lamps.jpg</a:t>
            </a:r>
          </a:p>
          <a:p>
            <a:pPr>
              <a:spcAft>
                <a:spcPts val="0"/>
              </a:spcAft>
            </a:pPr>
            <a:r>
              <a:rPr sz="650">
                <a:solidFill>
                  <a:srgbClr val="646862"/>
                </a:solidFill>
                <a:latin typeface="Arial"/>
              </a:rPr>
              <a:t>Foto 3: Atlant, Germicidal Lamp 1.jpg — CC BY 2.5 — commons.wikimedia.org/wiki/File:Germicidal_Lamp_1.jpg (zugeschnitten)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Abschied von der Leuchtstofflampe</dc:title>
  <dc:subject>Technik, RoHS-Einordnung, Entsorgung, LED-Umstieg und 10.080 simulierte Stromkostenszenarien</dc:subject>
  <dc:creator>EULEN Werkstatt</dc:creator>
  <cp:keywords>Leuchtstofflampe, LED, T5, T8, RoHS, Recycling, Simulation</cp:keywords>
  <dc:description>Enthält echte Wikimedia-Commons-Fotografien mit sichtbaren Quellen- und Lizenzangaben. Sensitivitätsmodell: 10.080 gültige Eingabekombinationen.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