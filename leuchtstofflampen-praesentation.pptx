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LICHT · TECHNIK · WANDEL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1170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0211F"/>
                </a:solidFill>
                <a:latin typeface="Aptos Display"/>
              </a:rPr>
              <a:t>DER ABSCHIED VON 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814C"/>
                </a:solidFill>
                <a:latin typeface="Aptos Display"/>
              </a:rPr>
              <a:t>LEUCHTSTOFFLAMPE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084831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D625D"/>
                </a:solidFill>
                <a:latin typeface="Aptos"/>
              </a:rPr>
              <a:t>Wie die Röhre leuchtet, was EU-Regeln tatsächlich sagen – und wie ein LED-Wechsel sinnvoll geplant wird.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88336"/>
            <a:ext cx="5330952" cy="1463040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852928"/>
            <a:ext cx="4846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3E3A"/>
                </a:solidFill>
                <a:latin typeface="Aptos Display"/>
              </a:rPr>
              <a:t>KLASSISCHE LEUCHTSTOFFRÖHRE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3493008"/>
            <a:ext cx="4389120" cy="118872"/>
          </a:xfrm>
          <a:prstGeom prst="roundRect">
            <a:avLst>
              <a:gd name="adj" fmla="val 8000"/>
            </a:avLst>
          </a:prstGeom>
          <a:solidFill>
            <a:srgbClr val="3A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5295" y="3374136"/>
            <a:ext cx="4169663" cy="356616"/>
          </a:xfrm>
          <a:prstGeom prst="roundRect">
            <a:avLst>
              <a:gd name="adj" fmla="val 8000"/>
            </a:avLst>
          </a:prstGeom>
          <a:solidFill>
            <a:srgbClr val="F7F5EC"/>
          </a:solidFill>
          <a:ln w="12700">
            <a:solidFill>
              <a:srgbClr val="B8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1288" y="3438144"/>
            <a:ext cx="164592" cy="228600"/>
          </a:xfrm>
          <a:prstGeom prst="rect">
            <a:avLst/>
          </a:prstGeom>
          <a:solidFill>
            <a:srgbClr val="3A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94375" y="3438144"/>
            <a:ext cx="164592" cy="228600"/>
          </a:xfrm>
          <a:prstGeom prst="rect">
            <a:avLst/>
          </a:prstGeom>
          <a:solidFill>
            <a:srgbClr val="3A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89888" y="3479291"/>
            <a:ext cx="3840480" cy="36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2688336"/>
            <a:ext cx="5330952" cy="1463040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852928"/>
            <a:ext cx="4846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4DB2"/>
                </a:solidFill>
                <a:latin typeface="Aptos Display"/>
              </a:rPr>
              <a:t>LED-ALTERNATIVE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3493008"/>
            <a:ext cx="4389120" cy="118872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57416" y="3374136"/>
            <a:ext cx="4169663" cy="356616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F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93407" y="3438144"/>
            <a:ext cx="164592" cy="228600"/>
          </a:xfrm>
          <a:prstGeom prst="rect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26496" y="3438144"/>
            <a:ext cx="164592" cy="228600"/>
          </a:xfrm>
          <a:prstGeom prst="rect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76872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98664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42248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40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85832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07624" y="3479291"/>
            <a:ext cx="82296" cy="82296"/>
          </a:xfrm>
          <a:prstGeom prst="ellipse">
            <a:avLst/>
          </a:prstGeom>
          <a:solidFill>
            <a:srgbClr val="80B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5330952" cy="138988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617720"/>
            <a:ext cx="48920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HINTERGRUND DES EU-AUSSTIEGS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212080"/>
            <a:ext cx="4892040" cy="44805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Quecksilberhaltige Lampentypen verlieren schrittweise ihre RoHS-Ausnahmen. Die Frist hängt vom Lampentyp ab.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407408"/>
            <a:ext cx="5330952" cy="1389888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617720"/>
            <a:ext cx="48920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RETROFIT &amp; ENERGIE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212080"/>
            <a:ext cx="4892040" cy="44805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LED-Röhren können Strom sparen – aber nur passend zur Leuchte, zum Vorschaltgerät und zur gewünschten Lichtmenge.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6053328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25D"/>
                </a:solidFill>
                <a:latin typeface="Aptos"/>
              </a:rPr>
              <a:t>Stand: September 2026 · Illustrationen sind schematisch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05332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01 · FUNKTIONSWEISE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WIE MACHT DIE RÖHRE LICHT?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Drei Schritte vom elektrischen Strom zum sichtbaren Licht.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02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65376"/>
            <a:ext cx="3456432" cy="331927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21408"/>
            <a:ext cx="502920" cy="502920"/>
          </a:xfrm>
          <a:prstGeom prst="ellipse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11F"/>
                </a:solidFill>
                <a:latin typeface="Aptos Display"/>
              </a:rPr>
              <a:t>GASENTLADUNG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2926080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E3A"/>
                </a:solidFill>
                <a:latin typeface="Aptos"/>
              </a:rPr>
              <a:t>Strom bringt eine Entladung in der Röhre in Gang. Die Röhre enthält Niederdruckgas und eine kleine Quecksilbermenge.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81728"/>
            <a:ext cx="2907792" cy="41148"/>
          </a:xfrm>
          <a:prstGeom prst="rect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865376"/>
            <a:ext cx="3456432" cy="3319272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121408"/>
            <a:ext cx="502920" cy="502920"/>
          </a:xfrm>
          <a:prstGeom prst="ellipse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2199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862072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11F"/>
                </a:solidFill>
                <a:latin typeface="Aptos Display"/>
              </a:rPr>
              <a:t>UV-STRAHLUNG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355848"/>
            <a:ext cx="2926080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E3A"/>
                </a:solidFill>
                <a:latin typeface="Aptos"/>
              </a:rPr>
              <a:t>Angeregte Quecksilberatome geben überwiegend ultraviolette Strahlung ab – für das Auge unsichtbar.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4681728"/>
            <a:ext cx="2907792" cy="41148"/>
          </a:xfrm>
          <a:prstGeom prst="rect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2" y="1865376"/>
            <a:ext cx="3456432" cy="331927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57032" y="2121408"/>
            <a:ext cx="502920" cy="502920"/>
          </a:xfrm>
          <a:prstGeom prst="ellipse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22199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862072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11F"/>
                </a:solidFill>
                <a:latin typeface="Aptos Display"/>
              </a:rPr>
              <a:t>SICHTBARES LICHT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355848"/>
            <a:ext cx="2926080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E3A"/>
                </a:solidFill>
                <a:latin typeface="Aptos"/>
              </a:rPr>
              <a:t>Eine Leuchtstoffschicht an der Glasinnenseite wandelt UV in sichtbares Licht um.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681728"/>
            <a:ext cx="2907792" cy="41148"/>
          </a:xfrm>
          <a:prstGeom prst="rect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96128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D625D"/>
                </a:solidFill>
                <a:latin typeface="Aptos"/>
              </a:rPr>
              <a:t>Starter und Vorschaltgerät helfen beim Zünden und Begrenzen des Lampenstroms; Bauart und Schaltung unterscheiden sich.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02 · EINORDNUNG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EU-AUSSTIEG: AUF DEN LAMPENTYP KOMMT ES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RoHS begrenzt Quecksilber in Elektrogeräten. Ausnahmen für bestimmte allgemeine Beleuchtungstypen laufen aus.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03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29968"/>
            <a:ext cx="10744200" cy="5029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819656"/>
            <a:ext cx="438912" cy="438912"/>
          </a:xfrm>
          <a:prstGeom prst="ellipse">
            <a:avLst/>
          </a:prstGeom>
          <a:solidFill>
            <a:srgbClr val="3A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A3E3A"/>
                </a:solidFill>
                <a:latin typeface="Aptos Display"/>
              </a:rPr>
              <a:t>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0175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RoHS-Rahmen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3054096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EU-Richtlinie begrenzt gefährliche Stoffe in Elektro- und Elektronikgeräten.</a:t>
            </a:r>
          </a:p>
        </p:txBody>
      </p:sp>
      <p:sp>
        <p:nvSpPr>
          <p:cNvPr id="13" name="Oval 12"/>
          <p:cNvSpPr/>
          <p:nvPr/>
        </p:nvSpPr>
        <p:spPr>
          <a:xfrm>
            <a:off x="4526280" y="1819656"/>
            <a:ext cx="438912" cy="438912"/>
          </a:xfrm>
          <a:prstGeom prst="ellipse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523744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4DB2"/>
                </a:solidFill>
                <a:latin typeface="Aptos Display"/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0175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Ausnahmen angepasst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447288"/>
            <a:ext cx="3054096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EU-Änderungen legen für bestimmte quecksilberhaltige Lampen Enddaten fest.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1819656"/>
            <a:ext cx="438912" cy="438912"/>
          </a:xfrm>
          <a:prstGeom prst="ellipse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523744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814C"/>
                </a:solidFill>
                <a:latin typeface="Aptos Display"/>
              </a:rPr>
              <a:t>24. AUG.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30175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T5 / T8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47288"/>
            <a:ext cx="3054096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RoHS-Ausnahme für lineare T5- und T8-Leuchtstofflampen zur Allgemeinbeleuchtung endet.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983480"/>
            <a:ext cx="10744200" cy="74980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166360"/>
            <a:ext cx="10241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WICHTIG: Das ist kein pauschales „alle Lampen ab 2026“-Verbot. Ausnahmen und Fristen unterscheiden sich nach Lampenart und Verwendungszweck.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607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D625D"/>
                </a:solidFill>
                <a:latin typeface="Aptos"/>
              </a:rPr>
              <a:t>Rechtsgrundlage: Delegierte Richtlinie (EU) 2022/284, Änderung der RoHS-Ausnahmen. Siehe Quellenfolie.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03 · WAS BEDEUTET DAS KONKRET?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MARKTFRIST IST NICHT GLEICH AUSTAUSCHZWANG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Die rechtliche Beschränkung betrifft das Inverkehrbringen bestimmter Lampen – nicht automatisch den Betrieb jeder vorhandenen Leuchte.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04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901952"/>
            <a:ext cx="5239512" cy="1828800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12264"/>
            <a:ext cx="4800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NEUE PRODUKTE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6624"/>
            <a:ext cx="4800600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Für die genannten T5-/T8-Lampen endete die betreffende RoHS-Ausnahme am 24. August 2023. Andere Typen und Sonderanwendungen können anderen Regeln folgen.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901952"/>
            <a:ext cx="5239512" cy="1828800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112264"/>
            <a:ext cx="4800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VORHANDENE LEUCHTEN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706624"/>
            <a:ext cx="4800600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Ein installierter Bestand muss nicht allein wegen dieses Datums sofort ausgebaut werden. Beim Ersatz zählen Verfügbarkeit, Lampentyp und Herstellerhinweise.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041648"/>
            <a:ext cx="10780776" cy="1143000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1463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MERKSATZ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90288"/>
            <a:ext cx="10058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11F"/>
                </a:solidFill>
                <a:latin typeface="Aptos"/>
              </a:rPr>
              <a:t>Vor einer Aussage wie „verboten“ immer prüfen: Welcher Lampentyp? Allgemein- oder Spezialanwendung? Inverkehrbringen oder vorhandene Installation?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D625D"/>
                </a:solidFill>
                <a:latin typeface="Aptos"/>
              </a:rPr>
              <a:t>Diese Folie ist eine allgemeine Einordnung, keine Rechtsberatung. Maßgeblich ist der jeweilige Rechtstext.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04 · UMWELT &amp; ENTSORGUNG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QUECKSILBER GEHÖRT NICHT IN DEN HAUSMÜLL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Leuchtstofflampen getrennt sammeln – so können Schadstoffe kontrolliert behandelt und Materialien verwertet werden.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05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74519"/>
            <a:ext cx="3429000" cy="239572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299008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NICHT ZERBRECHEN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1"/>
            <a:ext cx="2990088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Röhre vorsichtig handhaben. Alte Lampen nicht in Restmüll, Glascontainer oder Gelben Sack geben.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29000" cy="2395728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84831"/>
            <a:ext cx="299008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GETRENNT ABGEBEN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79191"/>
            <a:ext cx="2990088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Wertstoffhof oder kommunale Sammelstelle nutzen. Viele Händler nehmen Alt-Lampen ebenfalls zurück.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29000" cy="239572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84831"/>
            <a:ext cx="299008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ALTGERÄTE MITDENKEN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679191"/>
            <a:ext cx="2990088" cy="1453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Ausgebaute Vorschaltgeräte und Leuchten sind ebenfalls Elektroaltgeräte und gehören in die getrennte Sammlung.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4599432"/>
            <a:ext cx="10780776" cy="786384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828032"/>
            <a:ext cx="10149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11F"/>
                </a:solidFill>
                <a:latin typeface="Aptos"/>
              </a:rPr>
              <a:t>LED-Lampen enthalten kein Quecksilber, werden aber ebenfalls getrennt gesammelt. Die Annahmebedingungen können je nach Sammelstelle variieren.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42432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D625D"/>
                </a:solidFill>
                <a:latin typeface="Aptos"/>
              </a:rPr>
              <a:t>Quelle: Umweltbundesamt, „Wohin mit kaputten Lampen?“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05 · TECHNIK IN DER PRAXIS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LED-RETROFIT: DREI WEGE, NICHT EINE UNIVERSALLÖSUNG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Vor dem Kauf unbedingt Kompatibilität mit der vorhandenen Leuchte und dem Vorschaltgerät prüfen.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06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901952"/>
            <a:ext cx="3429000" cy="295351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438912" cy="438912"/>
          </a:xfrm>
          <a:prstGeom prst="ellipse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43891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29718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11F"/>
                </a:solidFill>
                <a:latin typeface="Aptos Display"/>
              </a:rPr>
              <a:t>KOMPATIBEL MIT VORSCHALTGERÄT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7016"/>
            <a:ext cx="297180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Manche LED-Röhren sind für bestimmte Vorschaltgeräte ausgelegt. Modell und Kompatibilitätsliste abgleichen.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1901952"/>
            <a:ext cx="3429000" cy="2953512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2130552"/>
            <a:ext cx="438912" cy="438912"/>
          </a:xfrm>
          <a:prstGeom prst="ellipse">
            <a:avLst/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21992"/>
            <a:ext cx="43891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61488"/>
            <a:ext cx="29718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11F"/>
                </a:solidFill>
                <a:latin typeface="Aptos Display"/>
              </a:rPr>
              <a:t>UMVERDRAHTUNG / BYPASS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557016"/>
            <a:ext cx="297180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Bei manchen Lösungen wird die Leuchte technisch geändert. Das ist keine einfache Plug-and-play-Montage.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901952"/>
            <a:ext cx="3429000" cy="295351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6175" y="2130552"/>
            <a:ext cx="438912" cy="438912"/>
          </a:xfrm>
          <a:prstGeom prst="ellipse">
            <a:avLst/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221992"/>
            <a:ext cx="43891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761488"/>
            <a:ext cx="29718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11F"/>
                </a:solidFill>
                <a:latin typeface="Aptos Display"/>
              </a:rPr>
              <a:t>GANZE LEUCHTE ERSETZEN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557016"/>
            <a:ext cx="297180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Eine neue LED-Leuchte vermeidet Retrofit-Fragen, kann aber mehr Investition und Montage bedeuten.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5148072"/>
            <a:ext cx="10780776" cy="594360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330952"/>
            <a:ext cx="10149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SICHERHEIT: Änderungen an der Verdrahtung von einer Elektrofachkraft ausführen lassen; Produkt- und Leuchtenanleitung beachten.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06 · RECHENBEISPIEL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SIMULATION: WAS KÖNNTE DER STROMKOSTEN-EFFEKT SEIN?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Eine transparente Beispielrechnung – keine Produktzusage und keine vollständige Lebenszyklusbilanz.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07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56231"/>
            <a:ext cx="3767328" cy="3474720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ANNAHMEN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42032"/>
            <a:ext cx="32004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"/>
              </a:rPr>
              <a:t>Alt: 68 W Gesamtaufnahme
LED: 24 W
Differenz: 44 W
Strompreis: 0,35 €/kWh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15968"/>
            <a:ext cx="320040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D625D"/>
                </a:solidFill>
                <a:latin typeface="Aptos"/>
              </a:rPr>
              <a:t>68 W ist hier eine angenommene Leuchtenaufnahme inklusive Vorschaltgerät – kein universeller Röhrenwert.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856231"/>
            <a:ext cx="6784848" cy="3474720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2103120"/>
            <a:ext cx="6217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JÄHRLICHE NUTZUNG  ·  ERSPARNIS PRO LEUCHTE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59689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2.000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9689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88 kWh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5968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30,80 €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5192" y="3108960"/>
            <a:ext cx="6172200" cy="10972"/>
          </a:xfrm>
          <a:prstGeom prst="rect">
            <a:avLst/>
          </a:prstGeom>
          <a:solidFill>
            <a:srgbClr val="66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3209544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4.000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9544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176 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209544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61,60 €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5192" y="3721607"/>
            <a:ext cx="6172200" cy="10972"/>
          </a:xfrm>
          <a:prstGeom prst="rect">
            <a:avLst/>
          </a:prstGeom>
          <a:solidFill>
            <a:srgbClr val="66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3822191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8.000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22191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352 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822191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123,20 €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9612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D625D"/>
                </a:solidFill>
                <a:latin typeface="Aptos"/>
              </a:rPr>
              <a:t>Rechnung: (68−24 W) × Betriebsstunden ÷ 1.000 × 0,35 €/kWh. Bei 4.000 h: 176 kWh × 0,35 € = 61,60 €.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D625D"/>
                </a:solidFill>
                <a:latin typeface="Aptos"/>
              </a:rPr>
              <a:t>Nicht enthalten: Anschaffung, Montage, Entsorgung, reale Lastaufnahme, Lichtmenge, Dimmung, Standby, Strompreisänderungen und Lebensdauer.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07 · AUSWAHLHILFE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GLEICHES LICHT VERGLEICHEN – NICHT NUR WATT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LED nur dann fair vergleichen, wenn Lichtmenge und Einsatz zur bisherigen Leuchte passen.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08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47088"/>
            <a:ext cx="5266944" cy="135331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4825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LUMEN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020824"/>
            <a:ext cx="35844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Lichtstrom prüfen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4718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E3A"/>
                </a:solidFill>
                <a:latin typeface="Aptos"/>
              </a:rPr>
              <a:t>Lumen sagen mehr über die abgegebene Lichtmenge aus als Watt.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847088"/>
            <a:ext cx="5266944" cy="1353312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4825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DB2"/>
                </a:solidFill>
                <a:latin typeface="Aptos Display"/>
              </a:rPr>
              <a:t>KELVIN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2020824"/>
            <a:ext cx="35844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Lichtfarbe wählen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68880"/>
            <a:ext cx="4718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E3A"/>
                </a:solidFill>
                <a:latin typeface="Aptos"/>
              </a:rPr>
              <a:t>Niedriger: wärmer. Höher: kühler. Passend zum Raum und zur bisherigen Nutzung auswählen.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447288"/>
            <a:ext cx="5266944" cy="135331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CRI / 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2264" y="3621024"/>
            <a:ext cx="35844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Farbwiedergabe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718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E3A"/>
                </a:solidFill>
                <a:latin typeface="Aptos"/>
              </a:rPr>
              <a:t>Bei Aufgaben mit relevanter Farberkennung auf den Farbwiedergabeindex achten.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447288"/>
            <a:ext cx="5266944" cy="1353312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64845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DB2"/>
                </a:solidFill>
                <a:latin typeface="Aptos Display"/>
              </a:rPr>
              <a:t>LEUCHTE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21024"/>
            <a:ext cx="35844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Kompatibilität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069080"/>
            <a:ext cx="4718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E3A"/>
                </a:solidFill>
                <a:latin typeface="Aptos"/>
              </a:rPr>
              <a:t>Sockel, Länge, Vorschaltgerät, Dimmfunktion und Einbaulage laut Hersteller prüfen.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5239512"/>
            <a:ext cx="10780776" cy="56692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413248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Prüfe die erwartete Helligkeit nach dem Einbau – Abstrahlwinkel und Leuchtenoptik verändern das Ergebnis.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08 · HÄUFIGE IRRTÜMER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DREI KURZE FAKTENCHECKS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So vermeidest du überhasteten Austausch und unpassende Ersatzlampen.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09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28800"/>
            <a:ext cx="10780776" cy="98755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828800"/>
            <a:ext cx="137160" cy="987552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93392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„2026 müssen alle Röhren raus.“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1984248"/>
            <a:ext cx="6126480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Zu pauschal. RoHS-Ausnahmen und Fristen hängen vom Typ und der Anwendung ab. T5/T8-Allgemeinbeleuchtung: relevante Ausnahme endete 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999232"/>
            <a:ext cx="10780776" cy="987552"/>
          </a:xfrm>
          <a:prstGeom prst="roundRect">
            <a:avLst>
              <a:gd name="adj" fmla="val 8000"/>
            </a:avLst>
          </a:prstGeom>
          <a:solidFill>
            <a:srgbClr val="E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2999232"/>
            <a:ext cx="137160" cy="987552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63824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„Jede LED-Röhre passt.“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3154680"/>
            <a:ext cx="6126480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Nein. Vorschaltgeräte, Fassung und Verdrahtung müssen zum gewählten Retrofit passen.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169664"/>
            <a:ext cx="10780776" cy="987552"/>
          </a:xfrm>
          <a:prstGeom prst="roundRect">
            <a:avLst>
              <a:gd name="adj" fmla="val 8000"/>
            </a:avLst>
          </a:prstGeom>
          <a:solidFill>
            <a:srgbClr val="E9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" y="4169664"/>
            <a:ext cx="137160" cy="987552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334256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11F"/>
                </a:solidFill>
                <a:latin typeface="Aptos Display"/>
              </a:rPr>
              <a:t>„Weniger Watt heißt gleiches Licht.“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4325112"/>
            <a:ext cx="6126480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E3A"/>
                </a:solidFill>
                <a:latin typeface="Aptos"/>
              </a:rPr>
              <a:t>Nicht automatisch. Lumen, Optik, Lichtfarbe und Leuchtengeometrie mitvergleichen.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881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09 · FAZIT &amp; QUELLEN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20211F"/>
                </a:solidFill>
                <a:latin typeface="Aptos Display"/>
              </a:rPr>
              <a:t>GUT GEPLANTER WECHSEL IN DREI SCHRITTEN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10835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25D"/>
                </a:solidFill>
                <a:latin typeface="Aptos"/>
              </a:rPr>
              <a:t>Die verständliche Kurzfassung für den Alltag.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D625D"/>
                </a:solidFill>
                <a:latin typeface="Aptos Display"/>
              </a:rPr>
              <a:t>LICHT · TECHNIK · UMWELT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01384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25D"/>
                </a:solidFill>
                <a:latin typeface="Aptos Display"/>
              </a:rPr>
              <a:t>10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773936"/>
            <a:ext cx="3429000" cy="161848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298094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TYP ERMITTELN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06624"/>
            <a:ext cx="298094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T5, T8 oder anderer Lampentyp? Leuchte und Vorschaltgerät identifizieren.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773936"/>
            <a:ext cx="3429000" cy="1618488"/>
          </a:xfrm>
          <a:prstGeom prst="roundRect">
            <a:avLst>
              <a:gd name="adj" fmla="val 8000"/>
            </a:avLst>
          </a:prstGeom>
          <a:solidFill>
            <a:srgbClr val="174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984248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304288"/>
            <a:ext cx="298094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PASSEND ERSETZEN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706624"/>
            <a:ext cx="298094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LED-Auswahl nach Lichtbedarf und Hersteller-Kompatibilität treffen. Umbauten Fachkraft überlassen.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73936"/>
            <a:ext cx="3429000" cy="1618488"/>
          </a:xfrm>
          <a:prstGeom prst="roundRect">
            <a:avLst>
              <a:gd name="adj" fmla="val 8000"/>
            </a:avLst>
          </a:prstGeom>
          <a:solidFill>
            <a:srgbClr val="16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548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04288"/>
            <a:ext cx="298094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RICHTIG ABGEBEN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06624"/>
            <a:ext cx="298094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Alt-Lampen und ausgebaute Vorschaltgeräte getrennt bei Sammelstelle oder teilnehmendem Händler abgeben.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7"/>
            <a:ext cx="10698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14C"/>
                </a:solidFill>
                <a:latin typeface="Aptos Display"/>
              </a:rPr>
              <a:t>QUELLEN ZUM NACHPRÜFEN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23360"/>
            <a:ext cx="1069848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E3A"/>
                </a:solidFill>
                <a:latin typeface="Aptos"/>
              </a:rPr>
              <a:t>EU-Kommission · Delegierte Richtlinie (EU) 2022/284 (RoHS-Ausnahmen): https://eur-lex.europa.eu/eli/dir_del/2022/284/oj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08576"/>
            <a:ext cx="1069848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E3A"/>
                </a:solidFill>
                <a:latin typeface="Aptos"/>
              </a:rPr>
              <a:t>Umweltbundesamt · Wohin mit kaputten Lampen?: https://www.umweltbundesamt.de/service/uba-fragen/wohin-kaputten-lampen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193792"/>
            <a:ext cx="1069848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E3A"/>
                </a:solidFill>
                <a:latin typeface="Aptos"/>
              </a:rPr>
              <a:t>EU-Kommission · RoHS-Richtlinie und Umsetzung: https://environment.ec.europa.eu/topics/waste-and-recycling/rohs-directive_en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70448"/>
            <a:ext cx="10652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25D"/>
                </a:solidFill>
                <a:latin typeface="Aptos"/>
              </a:rPr>
              <a:t>Stand der Präsentation: September 2026. Simulation mit Beispielwerten; keine Energie- oder Kostenersparnis wird garantiert.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Abschied von der Leuchtstofflampe</dc:title>
  <dc:subject>Technik, EU-Regeln, LED-Retrofit und Energiespar-Simulation</dc:subject>
  <dc:creator>EULEN Werkstatt</dc:creator>
  <cp:keywords>Leuchtstofflampe, LED, RoHS, Recycling, Energie</cp:keywords>
  <dc:description>Faktenstand und Quellen siehe Schlussfolie. Rechenbeispiel ausdrücklich illustrativ.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